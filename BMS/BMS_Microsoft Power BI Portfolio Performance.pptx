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1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147483619" r:id="rId5"/>
    <p:sldId id="2147483543" r:id="rId6"/>
    <p:sldId id="325" r:id="rId7"/>
    <p:sldId id="2147483618" r:id="rId8"/>
    <p:sldId id="2147483614" r:id="rId9"/>
    <p:sldId id="2147483624" r:id="rId10"/>
    <p:sldId id="257" r:id="rId11"/>
    <p:sldId id="258" r:id="rId12"/>
    <p:sldId id="260" r:id="rId13"/>
    <p:sldId id="261" r:id="rId14"/>
    <p:sldId id="256" r:id="rId15"/>
    <p:sldId id="259" r:id="rId16"/>
    <p:sldId id="2147483637" r:id="rId17"/>
    <p:sldId id="2147483636" r:id="rId18"/>
    <p:sldId id="2147483635" r:id="rId19"/>
    <p:sldId id="2147483647" r:id="rId20"/>
    <p:sldId id="2147483620" r:id="rId21"/>
    <p:sldId id="2147483616" r:id="rId22"/>
    <p:sldId id="2147483484" r:id="rId23"/>
    <p:sldId id="2147483486" r:id="rId24"/>
    <p:sldId id="2147483485" r:id="rId25"/>
    <p:sldId id="2147483638" r:id="rId26"/>
    <p:sldId id="33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CAB600-88E8-40BF-AB68-1DE889839C52}" v="6" dt="2026-06-24T02:36:21.466"/>
    <p1510:client id="{C09B44B2-855C-42CC-8F36-2AF7BAF0DEC8}" v="1" dt="2026-06-24T02:25:05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rul Fathihah Umairah binti Ab Salam" userId="655f2fb5-5602-4d96-a044-fc6c45f1e98b" providerId="ADAL" clId="{061889C3-A720-44D8-A7C9-D43430515148}"/>
    <pc:docChg chg="modSld sldOrd">
      <pc:chgData name="Nurul Fathihah Umairah binti Ab Salam" userId="655f2fb5-5602-4d96-a044-fc6c45f1e98b" providerId="ADAL" clId="{061889C3-A720-44D8-A7C9-D43430515148}" dt="2026-06-24T02:25:05.228" v="4"/>
      <pc:docMkLst>
        <pc:docMk/>
      </pc:docMkLst>
      <pc:sldChg chg="ord">
        <pc:chgData name="Nurul Fathihah Umairah binti Ab Salam" userId="655f2fb5-5602-4d96-a044-fc6c45f1e98b" providerId="ADAL" clId="{061889C3-A720-44D8-A7C9-D43430515148}" dt="2026-06-23T14:10:09.168" v="2"/>
        <pc:sldMkLst>
          <pc:docMk/>
          <pc:sldMk cId="786023919" sldId="325"/>
        </pc:sldMkLst>
      </pc:sldChg>
      <pc:sldChg chg="ord">
        <pc:chgData name="Nurul Fathihah Umairah binti Ab Salam" userId="655f2fb5-5602-4d96-a044-fc6c45f1e98b" providerId="ADAL" clId="{061889C3-A720-44D8-A7C9-D43430515148}" dt="2026-06-24T02:25:05.228" v="4"/>
        <pc:sldMkLst>
          <pc:docMk/>
          <pc:sldMk cId="3813116631" sldId="333"/>
        </pc:sldMkLst>
      </pc:sldChg>
      <pc:sldChg chg="modSp mod">
        <pc:chgData name="Nurul Fathihah Umairah binti Ab Salam" userId="655f2fb5-5602-4d96-a044-fc6c45f1e98b" providerId="ADAL" clId="{061889C3-A720-44D8-A7C9-D43430515148}" dt="2026-06-23T13:25:45.579" v="0" actId="1036"/>
        <pc:sldMkLst>
          <pc:docMk/>
          <pc:sldMk cId="250474196" sldId="2147483619"/>
        </pc:sldMkLst>
        <pc:spChg chg="mod">
          <ac:chgData name="Nurul Fathihah Umairah binti Ab Salam" userId="655f2fb5-5602-4d96-a044-fc6c45f1e98b" providerId="ADAL" clId="{061889C3-A720-44D8-A7C9-D43430515148}" dt="2026-06-23T13:25:45.579" v="0" actId="1036"/>
          <ac:spMkLst>
            <pc:docMk/>
            <pc:sldMk cId="250474196" sldId="2147483619"/>
            <ac:spMk id="20" creationId="{6F1B47C2-C5A9-4968-622F-C41AB6EB947E}"/>
          </ac:spMkLst>
        </pc:spChg>
      </pc:sldChg>
    </pc:docChg>
  </pc:docChgLst>
  <pc:docChgLst>
    <pc:chgData name="Muhammad Azim bin Abdul Talib" userId="f78b1fbf-9527-4218-9194-631e3c2bea3d" providerId="ADAL" clId="{C7521AB9-BBC4-4A38-AF09-CFB9527DB7EF}"/>
    <pc:docChg chg="addSld delSld modSld sldOrd">
      <pc:chgData name="Muhammad Azim bin Abdul Talib" userId="f78b1fbf-9527-4218-9194-631e3c2bea3d" providerId="ADAL" clId="{C7521AB9-BBC4-4A38-AF09-CFB9527DB7EF}" dt="2026-06-24T02:36:21.466" v="5" actId="2696"/>
      <pc:docMkLst>
        <pc:docMk/>
      </pc:docMkLst>
      <pc:sldChg chg="add del">
        <pc:chgData name="Muhammad Azim bin Abdul Talib" userId="f78b1fbf-9527-4218-9194-631e3c2bea3d" providerId="ADAL" clId="{C7521AB9-BBC4-4A38-AF09-CFB9527DB7EF}" dt="2026-06-24T02:36:21.466" v="5" actId="2696"/>
        <pc:sldMkLst>
          <pc:docMk/>
          <pc:sldMk cId="3912356060" sldId="2147483613"/>
        </pc:sldMkLst>
      </pc:sldChg>
      <pc:sldChg chg="ord">
        <pc:chgData name="Muhammad Azim bin Abdul Talib" userId="f78b1fbf-9527-4218-9194-631e3c2bea3d" providerId="ADAL" clId="{C7521AB9-BBC4-4A38-AF09-CFB9527DB7EF}" dt="2026-06-23T01:42:13.455" v="3"/>
        <pc:sldMkLst>
          <pc:docMk/>
          <pc:sldMk cId="2921466278" sldId="214748361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mexim.sharepoint.com/sites/MONITORINGGROUP/Shared%20Documents/001.%20BMS%20-%20MAIN%20SHARING%20FOLDER/MONITORING/BUSINESS%20DIVISION%20PERFORMANCE%20REPORT/2026/05%20May/LDB%20May%202026%20-%20Late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mexim.sharepoint.com/sites/MONITORINGGROUP/Shared%20Documents/001.%20BMS%20-%20MAIN%20SHARING%20FOLDER/MONITORING/BUSINESS%20DIVISION%20PERFORMANCE%20REPORT/2026/05%20May/LDB%20May%202026%20-%20Late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mexim.sharepoint.com/sites/MONITORINGGROUP/Shared%20Documents/001.%20BMS%20-%20MAIN%20SHARING%20FOLDER/MONITORING/BUSINESS%20DIVISION%20PERFORMANCE%20REPORT/2026/05%20May/LDB%20May%202026%20-%20Lates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mexim.sharepoint.com/sites/MONITORINGGROUP/Shared%20Documents/001.%20BMS%20-%20MAIN%20SHARING%20FOLDER/MONITORING/BUSINESS%20DIVISION%20PERFORMANCE%20REPORT/2026/05%20May/LDB%20May%202026%20-%20Lates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mexim.sharepoint.com/sites/MONITORINGGROUP/Shared%20Documents/001.%20BMS%20-%20MAIN%20SHARING%20FOLDER/MONITORING/BUSINESS%20DIVISION%20PERFORMANCE%20REPORT/2026/05%20May/LDB%20May%202026%20-%20Lates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mexim.sharepoint.com/sites/MONITORINGGROUP/Shared%20Documents/001.%20BMS%20-%20MAIN%20SHARING%20FOLDER/MONITORING/BUSINESS%20DIVISION%20PERFORMANCE%20REPORT/2026/05%20May/LDB%20May%202026%20-%20Lates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_7FFFFFDE_AE2209A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_7FFFFFDE_AE2209A6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2284812006138699E-2"/>
          <c:y val="0.12052993827160494"/>
          <c:w val="0.91630166411181413"/>
          <c:h val="0.556935185185185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LDB'!$F$67</c:f>
              <c:strCache>
                <c:ptCount val="1"/>
                <c:pt idx="0">
                  <c:v>Non-Resident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015EDD56-4FDC-4E0C-88FF-5BAAD4313362}" type="SERIESNAME">
                      <a:rPr lang="en-US"/>
                      <a:pPr/>
                      <a:t>[SERIES NAME]</a:t>
                    </a:fld>
                    <a:r>
                      <a:rPr lang="en-US" baseline="0"/>
                      <a:t>, </a:t>
                    </a:r>
                    <a:fld id="{520EB75C-9839-4C9C-BAC6-8DD905E40419}" type="VALUE">
                      <a:rPr lang="en-US" baseline="0"/>
                      <a:pPr/>
                      <a:t>[VALUE]</a:t>
                    </a:fld>
                    <a:br>
                      <a:rPr lang="en-US" baseline="0"/>
                    </a:br>
                    <a:fld id="{1A00E972-37AE-473B-815E-E086D9F5816A}" type="CELLREF">
                      <a:rPr lang="en-US" baseline="0"/>
                      <a:pPr/>
                      <a:t>[CELLREF]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162117412653182"/>
                      <c:h val="0.1798201398884002"/>
                    </c:manualLayout>
                  </c15:layout>
                  <c15:dlblFieldTable>
                    <c15:dlblFTEntry>
                      <c15:txfldGUID>{1A00E972-37AE-473B-815E-E086D9F5816A}</c15:txfldGUID>
                      <c15:f>'Pivot LDB'!$H$67</c15:f>
                      <c15:dlblFieldTableCache>
                        <c:ptCount val="1"/>
                        <c:pt idx="0">
                          <c:v>24.1%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0-6C98-4762-A44C-469B711AE131}"/>
                </c:ext>
              </c:extLst>
            </c:dLbl>
            <c:spPr>
              <a:solidFill>
                <a:sysClr val="windowText" lastClr="000000">
                  <a:lumMod val="65000"/>
                  <a:lumOff val="35000"/>
                  <a:alpha val="75000"/>
                </a:sys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'Pivot LDB'!$G$66</c:f>
              <c:strCache>
                <c:ptCount val="1"/>
                <c:pt idx="0">
                  <c:v> Sum of Total Loans Outstanding FS (MYR) </c:v>
                </c:pt>
              </c:strCache>
            </c:strRef>
          </c:cat>
          <c:val>
            <c:numRef>
              <c:f>'Pivot LDB'!$G$67</c:f>
              <c:numCache>
                <c:formatCode>"RM"#,##0.00,,"M"</c:formatCode>
                <c:ptCount val="1"/>
                <c:pt idx="0">
                  <c:v>772101113.3099997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98-4762-A44C-469B711AE131}"/>
            </c:ext>
          </c:extLst>
        </c:ser>
        <c:ser>
          <c:idx val="1"/>
          <c:order val="1"/>
          <c:tx>
            <c:strRef>
              <c:f>'Pivot LDB'!$F$68</c:f>
              <c:strCache>
                <c:ptCount val="1"/>
                <c:pt idx="0">
                  <c:v>Resident</c:v>
                </c:pt>
              </c:strCache>
            </c:strRef>
          </c:tx>
          <c:spPr>
            <a:solidFill>
              <a:srgbClr val="FFC00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tx>
                <c:rich>
                  <a:bodyPr rot="0" spcFirstLastPara="1" vertOverflow="clip" horzOverflow="clip" vert="horz" wrap="square" lIns="36576" tIns="18288" rIns="36576" bIns="18288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DEFC118A-A9E8-4459-B3B9-AC7FDF3FECF6}" type="SERIESNAME">
                      <a:rPr lang="en-US"/>
                      <a:pPr>
                        <a:defRPr/>
                      </a:pPr>
                      <a:t>[SERIES NAME]</a:t>
                    </a:fld>
                    <a:r>
                      <a:rPr lang="en-US"/>
                      <a:t>, </a:t>
                    </a:r>
                    <a:fld id="{0C199951-D492-4FC5-9C8C-A07FAA10A8B4}" type="VALUE">
                      <a:rPr lang="en-US"/>
                      <a:pPr>
                        <a:defRPr/>
                      </a:pPr>
                      <a:t>[VALUE]</a:t>
                    </a:fld>
                    <a:r>
                      <a:rPr lang="en-US"/>
                      <a:t>,</a:t>
                    </a:r>
                    <a:br>
                      <a:rPr lang="en-US"/>
                    </a:br>
                    <a:fld id="{0B549704-9C7C-4A3D-87C3-7428BFEE0B04}" type="CELLREF">
                      <a:rPr lang="en-US"/>
                      <a:pPr>
                        <a:defRPr/>
                      </a:pPr>
                      <a:t>[CELLREF]</a:t>
                    </a:fld>
                    <a:endParaRPr lang="en-US"/>
                  </a:p>
                </c:rich>
              </c:tx>
              <c:spPr>
                <a:solidFill>
                  <a:sysClr val="windowText" lastClr="000000">
                    <a:lumMod val="65000"/>
                    <a:lumOff val="35000"/>
                    <a:alpha val="75000"/>
                  </a:sys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6576" tIns="18288" rIns="36576" bIns="18288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33693731384093073"/>
                      <c:h val="0.16808859997349906"/>
                    </c:manualLayout>
                  </c15:layout>
                  <c15:dlblFieldTable>
                    <c15:dlblFTEntry>
                      <c15:txfldGUID>{0B549704-9C7C-4A3D-87C3-7428BFEE0B04}</c15:txfldGUID>
                      <c15:f>'Pivot LDB'!$H$68</c15:f>
                      <c15:dlblFieldTableCache>
                        <c:ptCount val="1"/>
                        <c:pt idx="0">
                          <c:v>75.9%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2-6C98-4762-A44C-469B711AE131}"/>
                </c:ext>
              </c:extLst>
            </c:dLbl>
            <c:spPr>
              <a:solidFill>
                <a:sysClr val="windowText" lastClr="000000">
                  <a:lumMod val="65000"/>
                  <a:lumOff val="35000"/>
                  <a:alpha val="75000"/>
                </a:sys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'Pivot LDB'!$G$66</c:f>
              <c:strCache>
                <c:ptCount val="1"/>
                <c:pt idx="0">
                  <c:v> Sum of Total Loans Outstanding FS (MYR) </c:v>
                </c:pt>
              </c:strCache>
            </c:strRef>
          </c:cat>
          <c:val>
            <c:numRef>
              <c:f>'Pivot LDB'!$G$68</c:f>
              <c:numCache>
                <c:formatCode>"RM"#,##0.00,,"M"</c:formatCode>
                <c:ptCount val="1"/>
                <c:pt idx="0">
                  <c:v>2437028118.6399999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C98-4762-A44C-469B711AE1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10"/>
        <c:axId val="970287151"/>
        <c:axId val="970280911"/>
      </c:barChart>
      <c:catAx>
        <c:axId val="97028715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70280911"/>
        <c:crosses val="autoZero"/>
        <c:auto val="1"/>
        <c:lblAlgn val="ctr"/>
        <c:lblOffset val="100"/>
        <c:noMultiLvlLbl val="0"/>
      </c:catAx>
      <c:valAx>
        <c:axId val="970280911"/>
        <c:scaling>
          <c:orientation val="minMax"/>
        </c:scaling>
        <c:delete val="1"/>
        <c:axPos val="l"/>
        <c:numFmt formatCode="&quot;RM&quot;#,##0.00,,&quot;M&quot;" sourceLinked="1"/>
        <c:majorTickMark val="none"/>
        <c:minorTickMark val="none"/>
        <c:tickLblPos val="nextTo"/>
        <c:crossAx val="970287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274598765432097"/>
          <c:y val="0.71013611111111108"/>
          <c:w val="0.51098919753086425"/>
          <c:h val="6.2518209876543204E-2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2284812006138699E-2"/>
          <c:y val="0.20676450617283951"/>
          <c:w val="0.91630166411181413"/>
          <c:h val="0.494219135802469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LDB'!$E$47</c:f>
              <c:strCache>
                <c:ptCount val="1"/>
                <c:pt idx="0">
                  <c:v>Non Trade</c:v>
                </c:pt>
              </c:strCache>
            </c:strRef>
          </c:tx>
          <c:spPr>
            <a:solidFill>
              <a:srgbClr val="FFC00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D586CE7C-7DF9-470C-B081-A6CAEC97EA26}" type="SERIESNAME">
                      <a:rPr lang="en-US"/>
                      <a:pPr/>
                      <a:t>[SERIES NAME]</a:t>
                    </a:fld>
                    <a:r>
                      <a:rPr lang="en-US"/>
                      <a:t>, </a:t>
                    </a:r>
                    <a:fld id="{246AEE0B-DD5C-4919-8E3B-320FC4132702}" type="VALUE">
                      <a:rPr lang="en-US"/>
                      <a:pPr/>
                      <a:t>[VALUE]</a:t>
                    </a:fld>
                    <a:r>
                      <a:rPr lang="en-US"/>
                      <a:t>, </a:t>
                    </a:r>
                    <a:br>
                      <a:rPr lang="en-US"/>
                    </a:br>
                    <a:fld id="{59EA4A05-3230-4F83-B00B-E0C0B924A0B1}" type="CELLREF">
                      <a:rPr lang="en-US"/>
                      <a:pPr/>
                      <a:t>[CELLREF]</a:t>
                    </a:fld>
                    <a:endParaRPr lang="en-US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55846677520919"/>
                      <c:h val="0.17716960103245522"/>
                    </c:manualLayout>
                  </c15:layout>
                  <c15:dlblFieldTable>
                    <c15:dlblFTEntry>
                      <c15:txfldGUID>{59EA4A05-3230-4F83-B00B-E0C0B924A0B1}</c15:txfldGUID>
                      <c15:f>'Pivot LDB'!$G$47</c15:f>
                      <c15:dlblFieldTableCache>
                        <c:ptCount val="1"/>
                        <c:pt idx="0">
                          <c:v>65.2%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0-3975-4FD4-B133-DA0283D717A1}"/>
                </c:ext>
              </c:extLst>
            </c:dLbl>
            <c:spPr>
              <a:solidFill>
                <a:sysClr val="windowText" lastClr="000000">
                  <a:lumMod val="65000"/>
                  <a:lumOff val="35000"/>
                  <a:alpha val="75000"/>
                </a:sys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'Pivot LDB'!$F$46</c:f>
              <c:strCache>
                <c:ptCount val="1"/>
                <c:pt idx="0">
                  <c:v> Sum of Total Loans Outstanding FS (MYR) </c:v>
                </c:pt>
              </c:strCache>
            </c:strRef>
          </c:cat>
          <c:val>
            <c:numRef>
              <c:f>'Pivot LDB'!$F$47</c:f>
              <c:numCache>
                <c:formatCode>"RM"#,##0.00,,"M"</c:formatCode>
                <c:ptCount val="1"/>
                <c:pt idx="0">
                  <c:v>2338892482.9100003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75-4FD4-B133-DA0283D717A1}"/>
            </c:ext>
          </c:extLst>
        </c:ser>
        <c:ser>
          <c:idx val="1"/>
          <c:order val="1"/>
          <c:tx>
            <c:strRef>
              <c:f>'Pivot LDB'!$E$48</c:f>
              <c:strCache>
                <c:ptCount val="1"/>
                <c:pt idx="0">
                  <c:v>Trade</c:v>
                </c:pt>
              </c:strCache>
            </c:strRef>
          </c:tx>
          <c:spPr>
            <a:solidFill>
              <a:schemeClr val="accent1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A8CE0943-BAD0-4E20-81C7-60DC1583B411}" type="SERIESNAME">
                      <a:rPr lang="en-US"/>
                      <a:pPr/>
                      <a:t>[SERIES NAME]</a:t>
                    </a:fld>
                    <a:r>
                      <a:rPr lang="en-US" baseline="0"/>
                      <a:t>, </a:t>
                    </a:r>
                    <a:fld id="{90AE8E18-517B-4F6D-BD27-24362A736089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,</a:t>
                    </a:r>
                    <a:br>
                      <a:rPr lang="en-US" baseline="0"/>
                    </a:br>
                    <a:fld id="{AAB227A2-F237-477D-BCD3-1042614322F0}" type="CELLREF">
                      <a:rPr lang="en-US" baseline="0"/>
                      <a:pPr/>
                      <a:t>[CELLREF]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677599084447658"/>
                      <c:h val="0.15740925925925925"/>
                    </c:manualLayout>
                  </c15:layout>
                  <c15:dlblFieldTable>
                    <c15:dlblFTEntry>
                      <c15:txfldGUID>{AAB227A2-F237-477D-BCD3-1042614322F0}</c15:txfldGUID>
                      <c15:f>'Pivot LDB'!$G$48</c15:f>
                      <c15:dlblFieldTableCache>
                        <c:ptCount val="1"/>
                        <c:pt idx="0">
                          <c:v>34.8%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2-3975-4FD4-B133-DA0283D717A1}"/>
                </c:ext>
              </c:extLst>
            </c:dLbl>
            <c:spPr>
              <a:solidFill>
                <a:sysClr val="windowText" lastClr="000000">
                  <a:lumMod val="65000"/>
                  <a:lumOff val="35000"/>
                  <a:alpha val="75000"/>
                </a:sys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'Pivot LDB'!$F$46</c:f>
              <c:strCache>
                <c:ptCount val="1"/>
                <c:pt idx="0">
                  <c:v> Sum of Total Loans Outstanding FS (MYR) </c:v>
                </c:pt>
              </c:strCache>
            </c:strRef>
          </c:cat>
          <c:val>
            <c:numRef>
              <c:f>'Pivot LDB'!$F$48</c:f>
              <c:numCache>
                <c:formatCode>"RM"#,##0.00,,"M"</c:formatCode>
                <c:ptCount val="1"/>
                <c:pt idx="0">
                  <c:v>1246665080.9699998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975-4FD4-B133-DA0283D71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10"/>
        <c:axId val="970287151"/>
        <c:axId val="970280911"/>
      </c:barChart>
      <c:catAx>
        <c:axId val="97028715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70280911"/>
        <c:crosses val="autoZero"/>
        <c:auto val="1"/>
        <c:lblAlgn val="ctr"/>
        <c:lblOffset val="100"/>
        <c:noMultiLvlLbl val="0"/>
      </c:catAx>
      <c:valAx>
        <c:axId val="970280911"/>
        <c:scaling>
          <c:orientation val="minMax"/>
        </c:scaling>
        <c:delete val="1"/>
        <c:axPos val="l"/>
        <c:numFmt formatCode="&quot;RM&quot;#,##0.00,,&quot;M&quot;" sourceLinked="1"/>
        <c:majorTickMark val="none"/>
        <c:minorTickMark val="none"/>
        <c:tickLblPos val="nextTo"/>
        <c:crossAx val="970287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040185185185191"/>
          <c:y val="0.72581512345679011"/>
          <c:w val="0.39567777777777779"/>
          <c:h val="6.2518209876543204E-2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6304411196388777E-2"/>
          <c:y val="0.15188796296296297"/>
          <c:w val="0.91630166411181413"/>
          <c:h val="0.549095679012345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LDB'!$F$17</c:f>
              <c:strCache>
                <c:ptCount val="1"/>
                <c:pt idx="0">
                  <c:v> Sum of Total Loans Outstanding FS (MYR) 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4207-4266-87C2-BCE1DE98BF8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4207-4266-87C2-BCE1DE98BF8F}"/>
              </c:ext>
            </c:extLst>
          </c:dPt>
          <c:dLbls>
            <c:dLbl>
              <c:idx val="0"/>
              <c:layout>
                <c:manualLayout>
                  <c:x val="-4.0196449862208413E-3"/>
                  <c:y val="-3.8535902231956816E-3"/>
                </c:manualLayout>
              </c:layout>
              <c:tx>
                <c:rich>
                  <a:bodyPr/>
                  <a:lstStyle/>
                  <a:p>
                    <a:fld id="{4994E788-E512-4438-8EB1-D018E7A2D8A9}" type="CATEGORYNAME">
                      <a:rPr lang="en-US"/>
                      <a:pPr/>
                      <a:t>[CATEGORY NAME]</a:t>
                    </a:fld>
                    <a:r>
                      <a:rPr lang="en-US"/>
                      <a:t>,</a:t>
                    </a:r>
                    <a:br>
                      <a:rPr lang="en-US"/>
                    </a:br>
                    <a:fld id="{F9BCCEB7-D448-4469-8E2F-D6A994A78A1F}" type="VALUE">
                      <a:rPr lang="en-US"/>
                      <a:pPr/>
                      <a:t>[VALUE]</a:t>
                    </a:fld>
                    <a:r>
                      <a:rPr lang="en-US"/>
                      <a:t>,</a:t>
                    </a:r>
                  </a:p>
                  <a:p>
                    <a:fld id="{36DFBEF8-A7FC-468E-AD53-67F4C3F88421}" type="CELLREF">
                      <a:rPr lang="en-US"/>
                      <a:pPr/>
                      <a:t>[CELLREF]</a:t>
                    </a:fld>
                    <a:r>
                      <a:rPr lang="en-US"/>
                      <a:t>,</a:t>
                    </a:r>
                    <a:r>
                      <a:rPr lang="en-US" baseline="0"/>
                      <a:t> </a:t>
                    </a:r>
                    <a:r>
                      <a:rPr lang="en-US"/>
                      <a:t>NOC:</a:t>
                    </a:r>
                    <a:fld id="{7F6103B5-8BE5-4408-B3A9-E3784990C750}" type="CELLREF">
                      <a:rPr lang="en-US"/>
                      <a:pPr/>
                      <a:t>[CELLREF]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405981928055952"/>
                      <c:h val="0.17081817014430672"/>
                    </c:manualLayout>
                  </c15:layout>
                  <c15:dlblFieldTable>
                    <c15:dlblFTEntry>
                      <c15:txfldGUID>{36DFBEF8-A7FC-468E-AD53-67F4C3F88421}</c15:txfldGUID>
                      <c15:f>'Pivot LDB'!$G$18</c15:f>
                      <c15:dlblFieldTableCache>
                        <c:ptCount val="1"/>
                        <c:pt idx="0">
                          <c:v>69.8%</c:v>
                        </c:pt>
                      </c15:dlblFieldTableCache>
                    </c15:dlblFTEntry>
                    <c15:dlblFTEntry>
                      <c15:txfldGUID>{7F6103B5-8BE5-4408-B3A9-E3784990C750}</c15:txfldGUID>
                      <c15:f>'Pivot LDB'!$H$18</c15:f>
                      <c15:dlblFieldTableCache>
                        <c:ptCount val="1"/>
                        <c:pt idx="0">
                          <c:v>43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1-4207-4266-87C2-BCE1DE98BF8F}"/>
                </c:ext>
              </c:extLst>
            </c:dLbl>
            <c:dLbl>
              <c:idx val="1"/>
              <c:layout>
                <c:manualLayout>
                  <c:x val="-4.0196449862208465E-3"/>
                  <c:y val="-5.7846253743349197E-3"/>
                </c:manualLayout>
              </c:layout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051AA69F-D4B8-4DFD-B76B-C6603EC4C976}" type="CATEGORYNAME">
                      <a:rPr lang="en-US" baseline="0"/>
                      <a:pPr/>
                      <a:t>[CATEGORY NAME]</a:t>
                    </a:fld>
                    <a:br>
                      <a:rPr lang="en-US" baseline="0"/>
                    </a:br>
                    <a:fld id="{D4E44A92-A30A-4834-B43B-D8873370F367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,</a:t>
                    </a:r>
                  </a:p>
                  <a:p>
                    <a:fld id="{D69B2F3E-6CD5-41A1-9644-0F460D6CC673}" type="CELLREF">
                      <a:rPr lang="en-US"/>
                      <a:pPr/>
                      <a:t>[CELLREF]</a:t>
                    </a:fld>
                    <a:r>
                      <a:rPr lang="en-US"/>
                      <a:t>,</a:t>
                    </a:r>
                    <a:r>
                      <a:rPr lang="en-US" baseline="0"/>
                      <a:t> </a:t>
                    </a:r>
                    <a:r>
                      <a:rPr lang="en-US"/>
                      <a:t>NOC:</a:t>
                    </a:r>
                    <a:fld id="{9CD265D8-08A5-4CA7-99E1-4269FE76B5CE}" type="CELLREF">
                      <a:rPr lang="en-US"/>
                      <a:pPr/>
                      <a:t>[CELLREF]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472511800190093"/>
                      <c:h val="0.16318397895002085"/>
                    </c:manualLayout>
                  </c15:layout>
                  <c15:dlblFieldTable>
                    <c15:dlblFTEntry>
                      <c15:txfldGUID>{D69B2F3E-6CD5-41A1-9644-0F460D6CC673}</c15:txfldGUID>
                      <c15:f>'Pivot LDB'!$G$19</c15:f>
                      <c15:dlblFieldTableCache>
                        <c:ptCount val="1"/>
                        <c:pt idx="0">
                          <c:v>18.9%</c:v>
                        </c:pt>
                      </c15:dlblFieldTableCache>
                    </c15:dlblFTEntry>
                    <c15:dlblFTEntry>
                      <c15:txfldGUID>{9CD265D8-08A5-4CA7-99E1-4269FE76B5CE}</c15:txfldGUID>
                      <c15:f>'Pivot LDB'!$H$19</c15:f>
                      <c15:dlblFieldTableCache>
                        <c:ptCount val="1"/>
                        <c:pt idx="0">
                          <c:v>24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3-4207-4266-87C2-BCE1DE98BF8F}"/>
                </c:ext>
              </c:extLst>
            </c:dLbl>
            <c:dLbl>
              <c:idx val="2"/>
              <c:layout>
                <c:manualLayout>
                  <c:x val="-2.0098224931104323E-3"/>
                  <c:y val="1.5142998362133296E-7"/>
                </c:manualLayout>
              </c:layout>
              <c:tx>
                <c:rich>
                  <a:bodyPr/>
                  <a:lstStyle/>
                  <a:p>
                    <a:fld id="{4A4B4D9C-BDC3-4933-954C-52787882600F}" type="CATEGORYNAME">
                      <a:rPr lang="pl-PL"/>
                      <a:pPr/>
                      <a:t>[CATEGORY NAME]</a:t>
                    </a:fld>
                    <a:r>
                      <a:rPr lang="pl-PL"/>
                      <a:t>,</a:t>
                    </a:r>
                    <a:br>
                      <a:rPr lang="pl-PL"/>
                    </a:br>
                    <a:fld id="{BE03A874-5B9B-4B7C-A0AA-0B2AF991CCAE}" type="VALUE">
                      <a:rPr lang="pl-PL"/>
                      <a:pPr/>
                      <a:t>[VALUE]</a:t>
                    </a:fld>
                    <a:r>
                      <a:rPr lang="pl-PL"/>
                      <a:t>,</a:t>
                    </a:r>
                  </a:p>
                  <a:p>
                    <a:fld id="{6B90D2ED-C405-4992-AC4A-78887E7E8083}" type="CELLREF">
                      <a:rPr lang="pl-PL"/>
                      <a:pPr/>
                      <a:t>[CELLREF]</a:t>
                    </a:fld>
                    <a:r>
                      <a:rPr lang="pl-PL"/>
                      <a:t>, NOC:</a:t>
                    </a:r>
                    <a:fld id="{39120398-1753-4E67-9F18-8AD8BDB93B05}" type="CELLREF">
                      <a:rPr lang="pl-PL"/>
                      <a:pPr/>
                      <a:t>[CELLREF]</a:t>
                    </a:fld>
                    <a:endParaRPr lang="pl-PL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1292708332342"/>
                      <c:h val="0.15908931219289996"/>
                    </c:manualLayout>
                  </c15:layout>
                  <c15:dlblFieldTable>
                    <c15:dlblFTEntry>
                      <c15:txfldGUID>{6B90D2ED-C405-4992-AC4A-78887E7E8083}</c15:txfldGUID>
                      <c15:f>'Pivot LDB'!$G$20</c15:f>
                      <c15:dlblFieldTableCache>
                        <c:ptCount val="1"/>
                        <c:pt idx="0">
                          <c:v>11.3%</c:v>
                        </c:pt>
                      </c15:dlblFieldTableCache>
                    </c15:dlblFTEntry>
                    <c15:dlblFTEntry>
                      <c15:txfldGUID>{39120398-1753-4E67-9F18-8AD8BDB93B05}</c15:txfldGUID>
                      <c15:f>'Pivot LDB'!$H$20</c15:f>
                      <c15:dlblFieldTableCache>
                        <c:ptCount val="1"/>
                        <c:pt idx="0">
                          <c:v>71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4-4207-4266-87C2-BCE1DE98BF8F}"/>
                </c:ext>
              </c:extLst>
            </c:dLbl>
            <c:spPr>
              <a:solidFill>
                <a:sysClr val="windowText" lastClr="000000">
                  <a:lumMod val="65000"/>
                  <a:lumOff val="35000"/>
                  <a:alpha val="75000"/>
                </a:sys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'Pivot LDB'!$E$18:$E$20</c:f>
              <c:strCache>
                <c:ptCount val="3"/>
                <c:pt idx="0">
                  <c:v>Corporate</c:v>
                </c:pt>
                <c:pt idx="1">
                  <c:v>Commercial</c:v>
                </c:pt>
                <c:pt idx="2">
                  <c:v>SME</c:v>
                </c:pt>
              </c:strCache>
            </c:strRef>
          </c:cat>
          <c:val>
            <c:numRef>
              <c:f>'Pivot LDB'!$F$18:$F$20</c:f>
              <c:numCache>
                <c:formatCode>"RM"#,##0.00,,"M"</c:formatCode>
                <c:ptCount val="3"/>
                <c:pt idx="0">
                  <c:v>2503869602.8299999</c:v>
                </c:pt>
                <c:pt idx="1">
                  <c:v>676224941.00999987</c:v>
                </c:pt>
                <c:pt idx="2">
                  <c:v>405463020.04000002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207-4266-87C2-BCE1DE98BF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38"/>
        <c:axId val="970287151"/>
        <c:axId val="970280911"/>
      </c:barChart>
      <c:catAx>
        <c:axId val="97028715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70280911"/>
        <c:crosses val="autoZero"/>
        <c:auto val="1"/>
        <c:lblAlgn val="ctr"/>
        <c:lblOffset val="100"/>
        <c:noMultiLvlLbl val="0"/>
      </c:catAx>
      <c:valAx>
        <c:axId val="970280911"/>
        <c:scaling>
          <c:orientation val="minMax"/>
        </c:scaling>
        <c:delete val="1"/>
        <c:axPos val="l"/>
        <c:numFmt formatCode="&quot;RM&quot;#,##0.00,,&quot;M&quot;" sourceLinked="1"/>
        <c:majorTickMark val="none"/>
        <c:minorTickMark val="none"/>
        <c:tickLblPos val="nextTo"/>
        <c:crossAx val="970287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722932098765435"/>
          <c:y val="0.71797561728395065"/>
          <c:w val="0.6333805555555555"/>
          <c:h val="6.2518209876543204E-2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333336673825342E-2"/>
          <c:y val="0.17910370370370371"/>
          <c:w val="0.93044778427525543"/>
          <c:h val="0.55755416666666657"/>
        </c:manualLayout>
      </c:layout>
      <c:barChart>
        <c:barDir val="col"/>
        <c:grouping val="clustered"/>
        <c:varyColors val="0"/>
        <c:ser>
          <c:idx val="3"/>
          <c:order val="0"/>
          <c:tx>
            <c:strRef>
              <c:f>'Pivot LDB'!$G$160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chemeClr val="accent4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1.674023749231034E-7"/>
                  <c:y val="-1.995816037193229E-2"/>
                </c:manualLayout>
              </c:layout>
              <c:tx>
                <c:rich>
                  <a:bodyPr/>
                  <a:lstStyle/>
                  <a:p>
                    <a:fld id="{C778AAB6-36D0-4990-8386-00F749F28709}" type="CELLREF">
                      <a:rPr lang="en-US"/>
                      <a:pPr/>
                      <a:t>[CELLREF]</a:t>
                    </a:fld>
                    <a:r>
                      <a:rPr lang="en-US" baseline="0"/>
                      <a:t>, (</a:t>
                    </a:r>
                    <a:fld id="{840D9DA1-B7ED-4433-880A-C524FC3A8A55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)</a:t>
                    </a:r>
                    <a:br>
                      <a:rPr lang="en-US" baseline="0"/>
                    </a:br>
                    <a:fld id="{93FFE337-8BDE-43D4-BF62-A76EEBFC23B3}" type="CELLREF">
                      <a:rPr lang="en-US" baseline="0"/>
                      <a:pPr/>
                      <a:t>[CELLREF]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654059765910347"/>
                      <c:h val="0.13964644793437453"/>
                    </c:manualLayout>
                  </c15:layout>
                  <c15:dlblFieldTable>
                    <c15:dlblFTEntry>
                      <c15:txfldGUID>{C778AAB6-36D0-4990-8386-00F749F28709}</c15:txfldGUID>
                      <c15:f>'Pivot LDB'!$I$160</c15:f>
                      <c15:dlblFieldTableCache>
                        <c:ptCount val="1"/>
                        <c:pt idx="0">
                          <c:v>USD468.0M</c:v>
                        </c:pt>
                      </c15:dlblFieldTableCache>
                    </c15:dlblFTEntry>
                    <c15:dlblFTEntry>
                      <c15:txfldGUID>{93FFE337-8BDE-43D4-BF62-A76EEBFC23B3}</c15:txfldGUID>
                      <c15:f>'Pivot LDB'!$J$160</c15:f>
                      <c15:dlblFieldTableCache>
                        <c:ptCount val="1"/>
                        <c:pt idx="0">
                          <c:v>56.1%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0-15F0-4018-91DB-8B9FE58BC283}"/>
                </c:ext>
              </c:extLst>
            </c:dLbl>
            <c:spPr>
              <a:solidFill>
                <a:sysClr val="windowText" lastClr="000000">
                  <a:lumMod val="65000"/>
                  <a:lumOff val="35000"/>
                  <a:alpha val="75000"/>
                </a:sys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'Pivot LDB'!$H$156</c:f>
              <c:strCache>
                <c:ptCount val="1"/>
                <c:pt idx="0">
                  <c:v>Sum of Total Loans Outstanding FS (MYR)</c:v>
                </c:pt>
              </c:strCache>
            </c:strRef>
          </c:cat>
          <c:val>
            <c:numRef>
              <c:f>'Pivot LDB'!$H$160</c:f>
              <c:numCache>
                <c:formatCode>"RM"#,##0.00,,"M"</c:formatCode>
                <c:ptCount val="1"/>
                <c:pt idx="0">
                  <c:v>1856896351.7299995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F0-4018-91DB-8B9FE58BC283}"/>
            </c:ext>
          </c:extLst>
        </c:ser>
        <c:ser>
          <c:idx val="2"/>
          <c:order val="1"/>
          <c:tx>
            <c:strRef>
              <c:f>'Pivot LDB'!$G$159</c:f>
              <c:strCache>
                <c:ptCount val="1"/>
                <c:pt idx="0">
                  <c:v>MYR</c:v>
                </c:pt>
              </c:strCache>
            </c:strRef>
          </c:tx>
          <c:spPr>
            <a:solidFill>
              <a:srgbClr val="FF000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1.1599517831242792E-7"/>
                  <c:y val="-8.6385155357240027E-3"/>
                </c:manualLayout>
              </c:layout>
              <c:tx>
                <c:rich>
                  <a:bodyPr/>
                  <a:lstStyle/>
                  <a:p>
                    <a:fld id="{840D9DA1-B7ED-4433-880A-C524FC3A8A55}" type="VALUE">
                      <a:rPr lang="en-US" sz="900" b="1" i="0" u="none" strike="noStrike" kern="1200" baseline="0">
                        <a:solidFill>
                          <a:sysClr val="window" lastClr="FFFFFF"/>
                        </a:solidFill>
                      </a:rPr>
                      <a:pPr/>
                      <a:t>[VALUE]</a:t>
                    </a:fld>
                    <a:br>
                      <a:rPr lang="en-US" sz="900" b="1" i="0" u="none" strike="noStrike" kern="1200" baseline="0">
                        <a:solidFill>
                          <a:sysClr val="window" lastClr="FFFFFF"/>
                        </a:solidFill>
                      </a:rPr>
                    </a:br>
                    <a:fld id="{68F3777E-3182-4490-ABD3-0C2A7275569E}" type="CELLREF">
                      <a:rPr lang="en-US" sz="900" b="1" i="0" u="none" strike="noStrike" kern="1200" baseline="0">
                        <a:solidFill>
                          <a:sysClr val="window" lastClr="FFFFFF"/>
                        </a:solidFill>
                      </a:rPr>
                      <a:pPr/>
                      <a:t>[CELLREF]</a:t>
                    </a:fld>
                    <a:endParaRPr lang="en-US" sz="900" b="1" i="0" u="none" strike="noStrike" kern="1200" baseline="0">
                      <a:solidFill>
                        <a:sysClr val="window" lastClr="FFFFFF"/>
                      </a:solidFill>
                    </a:endParaRP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571466485281137"/>
                      <c:h val="0.11285982478097623"/>
                    </c:manualLayout>
                  </c15:layout>
                  <c15:dlblFieldTable>
                    <c15:dlblFTEntry>
                      <c15:txfldGUID>{68F3777E-3182-4490-ABD3-0C2A7275569E}</c15:txfldGUID>
                      <c15:f>'Pivot LDB'!$J$159</c15:f>
                      <c15:dlblFieldTableCache>
                        <c:ptCount val="1"/>
                        <c:pt idx="0">
                          <c:v>39.3%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2-15F0-4018-91DB-8B9FE58BC283}"/>
                </c:ext>
              </c:extLst>
            </c:dLbl>
            <c:spPr>
              <a:solidFill>
                <a:sysClr val="windowText" lastClr="000000">
                  <a:lumMod val="65000"/>
                  <a:lumOff val="35000"/>
                  <a:alpha val="75000"/>
                </a:sys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'Pivot LDB'!$H$156</c:f>
              <c:strCache>
                <c:ptCount val="1"/>
                <c:pt idx="0">
                  <c:v>Sum of Total Loans Outstanding FS (MYR)</c:v>
                </c:pt>
              </c:strCache>
            </c:strRef>
          </c:cat>
          <c:val>
            <c:numRef>
              <c:f>'Pivot LDB'!$H$159</c:f>
              <c:numCache>
                <c:formatCode>"RM"#,##0.00,,"M"</c:formatCode>
                <c:ptCount val="1"/>
                <c:pt idx="0">
                  <c:v>1299334785.3499999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F0-4018-91DB-8B9FE58BC283}"/>
            </c:ext>
          </c:extLst>
        </c:ser>
        <c:ser>
          <c:idx val="1"/>
          <c:order val="2"/>
          <c:tx>
            <c:strRef>
              <c:f>'Pivot LDB'!$G$158</c:f>
              <c:strCache>
                <c:ptCount val="1"/>
                <c:pt idx="0">
                  <c:v>GBP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1.1599517820439899E-7"/>
                  <c:y val="-2.8795051785746677E-3"/>
                </c:manualLayout>
              </c:layout>
              <c:tx>
                <c:rich>
                  <a:bodyPr/>
                  <a:lstStyle/>
                  <a:p>
                    <a:fld id="{9F4EFF9C-F8BE-4208-B813-C2DF3CBA95F9}" type="CELLREF">
                      <a:rPr lang="en-US" sz="900" b="1" i="0" u="none" strike="noStrike" kern="1200" baseline="0">
                        <a:solidFill>
                          <a:sysClr val="window" lastClr="FFFFFF"/>
                        </a:solidFill>
                      </a:rPr>
                      <a:pPr/>
                      <a:t>[CELLREF]</a:t>
                    </a:fld>
                    <a:r>
                      <a:rPr lang="en-US" sz="900" b="1" i="0" u="none" strike="noStrike" kern="1200" baseline="0">
                        <a:solidFill>
                          <a:sysClr val="window" lastClr="FFFFFF"/>
                        </a:solidFill>
                      </a:rPr>
                      <a:t>, (</a:t>
                    </a:r>
                    <a:fld id="{840D9DA1-B7ED-4433-880A-C524FC3A8A55}" type="VALUE">
                      <a:rPr lang="en-US" sz="900" b="1" i="0" u="none" strike="noStrike" kern="1200" baseline="0">
                        <a:solidFill>
                          <a:sysClr val="window" lastClr="FFFFFF"/>
                        </a:solidFill>
                      </a:rPr>
                      <a:pPr/>
                      <a:t>[VALUE]</a:t>
                    </a:fld>
                    <a:r>
                      <a:rPr lang="en-US" sz="900" b="1" i="0" u="none" strike="noStrike" kern="1200" baseline="0">
                        <a:solidFill>
                          <a:sysClr val="window" lastClr="FFFFFF"/>
                        </a:solidFill>
                      </a:rPr>
                      <a:t>)</a:t>
                    </a:r>
                    <a:br>
                      <a:rPr lang="en-US" sz="900" b="1" i="0" u="none" strike="noStrike" kern="1200" baseline="0">
                        <a:solidFill>
                          <a:sysClr val="window" lastClr="FFFFFF"/>
                        </a:solidFill>
                      </a:rPr>
                    </a:br>
                    <a:fld id="{DDF21F9F-AEFA-466F-9C2B-5A81AC96DA9C}" type="CELLREF">
                      <a:rPr lang="en-US" sz="900" b="1" i="0" u="none" strike="noStrike" kern="1200" baseline="0">
                        <a:solidFill>
                          <a:sysClr val="window" lastClr="FFFFFF"/>
                        </a:solidFill>
                      </a:rPr>
                      <a:pPr/>
                      <a:t>[CELLREF]</a:t>
                    </a:fld>
                    <a:endParaRPr lang="en-US" sz="900" b="1" i="0" u="none" strike="noStrike" kern="1200" baseline="0">
                      <a:solidFill>
                        <a:sysClr val="window" lastClr="FFFFFF"/>
                      </a:solidFill>
                    </a:endParaRP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878923304916058"/>
                      <c:h val="0.12653770111189711"/>
                    </c:manualLayout>
                  </c15:layout>
                  <c15:dlblFieldTable>
                    <c15:dlblFTEntry>
                      <c15:txfldGUID>{9F4EFF9C-F8BE-4208-B813-C2DF3CBA95F9}</c15:txfldGUID>
                      <c15:f>'Pivot LDB'!$I$158</c15:f>
                      <c15:dlblFieldTableCache>
                        <c:ptCount val="1"/>
                        <c:pt idx="0">
                          <c:v>GBP21.18 M</c:v>
                        </c:pt>
                      </c15:dlblFieldTableCache>
                    </c15:dlblFTEntry>
                    <c15:dlblFTEntry>
                      <c15:txfldGUID>{DDF21F9F-AEFA-466F-9C2B-5A81AC96DA9C}</c15:txfldGUID>
                      <c15:f>'Pivot LDB'!$J$158</c15:f>
                      <c15:dlblFieldTableCache>
                        <c:ptCount val="1"/>
                        <c:pt idx="0">
                          <c:v>3.4%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4-15F0-4018-91DB-8B9FE58BC283}"/>
                </c:ext>
              </c:extLst>
            </c:dLbl>
            <c:spPr>
              <a:solidFill>
                <a:sysClr val="windowText" lastClr="000000">
                  <a:lumMod val="65000"/>
                  <a:lumOff val="35000"/>
                  <a:alpha val="75000"/>
                </a:sys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'Pivot LDB'!$H$156</c:f>
              <c:strCache>
                <c:ptCount val="1"/>
                <c:pt idx="0">
                  <c:v>Sum of Total Loans Outstanding FS (MYR)</c:v>
                </c:pt>
              </c:strCache>
            </c:strRef>
          </c:cat>
          <c:val>
            <c:numRef>
              <c:f>'Pivot LDB'!$H$158</c:f>
              <c:numCache>
                <c:formatCode>"RM"#,##0.00,,"M"</c:formatCode>
                <c:ptCount val="1"/>
                <c:pt idx="0">
                  <c:v>112710899.44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5F0-4018-91DB-8B9FE58BC283}"/>
            </c:ext>
          </c:extLst>
        </c:ser>
        <c:ser>
          <c:idx val="0"/>
          <c:order val="3"/>
          <c:tx>
            <c:strRef>
              <c:f>'Pivot LDB'!$G$157</c:f>
              <c:strCache>
                <c:ptCount val="1"/>
                <c:pt idx="0">
                  <c:v>AUD</c:v>
                </c:pt>
              </c:strCache>
            </c:strRef>
          </c:tx>
          <c:spPr>
            <a:solidFill>
              <a:srgbClr val="FFC00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2.9462775291356691E-3"/>
                  <c:y val="-5.7588969908037224E-3"/>
                </c:manualLayout>
              </c:layout>
              <c:tx>
                <c:rich>
                  <a:bodyPr/>
                  <a:lstStyle/>
                  <a:p>
                    <a:fld id="{56A5EACD-8262-448C-BE12-78D4AE06902B}" type="CELLREF">
                      <a:rPr lang="en-US" sz="900" b="1" i="0" u="none" strike="noStrike" kern="1200" baseline="0">
                        <a:solidFill>
                          <a:sysClr val="window" lastClr="FFFFFF"/>
                        </a:solidFill>
                      </a:rPr>
                      <a:pPr/>
                      <a:t>[CELLREF]</a:t>
                    </a:fld>
                    <a:r>
                      <a:rPr lang="en-US" sz="900" b="1" i="0" u="none" strike="noStrike" kern="1200" baseline="0">
                        <a:solidFill>
                          <a:sysClr val="window" lastClr="FFFFFF"/>
                        </a:solidFill>
                      </a:rPr>
                      <a:t>, (</a:t>
                    </a:r>
                    <a:fld id="{840D9DA1-B7ED-4433-880A-C524FC3A8A55}" type="VALUE">
                      <a:rPr lang="en-US" sz="900" b="1" i="0" u="none" strike="noStrike" kern="1200" baseline="0">
                        <a:solidFill>
                          <a:sysClr val="window" lastClr="FFFFFF"/>
                        </a:solidFill>
                      </a:rPr>
                      <a:pPr/>
                      <a:t>[VALUE]</a:t>
                    </a:fld>
                    <a:r>
                      <a:rPr lang="en-US" sz="900" b="1" i="0" u="none" strike="noStrike" kern="1200" baseline="0">
                        <a:solidFill>
                          <a:sysClr val="window" lastClr="FFFFFF"/>
                        </a:solidFill>
                      </a:rPr>
                      <a:t>)</a:t>
                    </a:r>
                    <a:br>
                      <a:rPr lang="en-US" sz="900" b="1" i="0" u="none" strike="noStrike" kern="1200" baseline="0">
                        <a:solidFill>
                          <a:sysClr val="window" lastClr="FFFFFF"/>
                        </a:solidFill>
                      </a:rPr>
                    </a:br>
                    <a:fld id="{B0937FF5-31B9-4473-AB5B-BAC246B4439B}" type="CELLREF">
                      <a:rPr lang="en-US" sz="900" b="1" i="0" u="none" strike="noStrike" kern="1200" baseline="0">
                        <a:solidFill>
                          <a:sysClr val="window" lastClr="FFFFFF"/>
                        </a:solidFill>
                      </a:rPr>
                      <a:pPr/>
                      <a:t>[CELLREF]</a:t>
                    </a:fld>
                    <a:endParaRPr lang="en-US" sz="900" b="1" i="0" u="none" strike="noStrike" kern="1200" baseline="0">
                      <a:solidFill>
                        <a:sysClr val="window" lastClr="FFFFFF"/>
                      </a:solidFill>
                    </a:endParaRP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014120370370367"/>
                      <c:h val="0.1272287037037037"/>
                    </c:manualLayout>
                  </c15:layout>
                  <c15:dlblFieldTable>
                    <c15:dlblFTEntry>
                      <c15:txfldGUID>{56A5EACD-8262-448C-BE12-78D4AE06902B}</c15:txfldGUID>
                      <c15:f>'Pivot LDB'!$I$157</c15:f>
                      <c15:dlblFieldTableCache>
                        <c:ptCount val="1"/>
                        <c:pt idx="0">
                          <c:v>AUD13.77 M</c:v>
                        </c:pt>
                      </c15:dlblFieldTableCache>
                    </c15:dlblFTEntry>
                    <c15:dlblFTEntry>
                      <c15:txfldGUID>{B0937FF5-31B9-4473-AB5B-BAC246B4439B}</c15:txfldGUID>
                      <c15:f>'Pivot LDB'!$J$157</c15:f>
                      <c15:dlblFieldTableCache>
                        <c:ptCount val="1"/>
                        <c:pt idx="0">
                          <c:v>1.2%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6-15F0-4018-91DB-8B9FE58BC283}"/>
                </c:ext>
              </c:extLst>
            </c:dLbl>
            <c:spPr>
              <a:solidFill>
                <a:sysClr val="windowText" lastClr="000000">
                  <a:lumMod val="65000"/>
                  <a:lumOff val="35000"/>
                  <a:alpha val="75000"/>
                </a:sys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'Pivot LDB'!$H$156</c:f>
              <c:strCache>
                <c:ptCount val="1"/>
                <c:pt idx="0">
                  <c:v>Sum of Total Loans Outstanding FS (MYR)</c:v>
                </c:pt>
              </c:strCache>
            </c:strRef>
          </c:cat>
          <c:val>
            <c:numRef>
              <c:f>'Pivot LDB'!$H$157</c:f>
              <c:numCache>
                <c:formatCode>"RM"#,##0.00,,"M"</c:formatCode>
                <c:ptCount val="1"/>
                <c:pt idx="0">
                  <c:v>39096933.149999999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5F0-4018-91DB-8B9FE58BC2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6"/>
        <c:axId val="991020479"/>
        <c:axId val="991020959"/>
      </c:barChart>
      <c:catAx>
        <c:axId val="9910204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91020959"/>
        <c:crosses val="autoZero"/>
        <c:auto val="1"/>
        <c:lblAlgn val="ctr"/>
        <c:lblOffset val="100"/>
        <c:noMultiLvlLbl val="0"/>
      </c:catAx>
      <c:valAx>
        <c:axId val="991020959"/>
        <c:scaling>
          <c:orientation val="minMax"/>
        </c:scaling>
        <c:delete val="1"/>
        <c:axPos val="l"/>
        <c:numFmt formatCode="&quot;RM&quot;#,##0.00,,&quot;M&quot;" sourceLinked="1"/>
        <c:majorTickMark val="none"/>
        <c:minorTickMark val="none"/>
        <c:tickLblPos val="nextTo"/>
        <c:crossAx val="991020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607986111111112"/>
          <c:y val="0.7862055555555556"/>
          <c:w val="0.71421267710388714"/>
          <c:h val="4.7538833784216639E-2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471879546468325E-2"/>
          <c:y val="0.10998479800138077"/>
          <c:w val="0.94251319420074453"/>
          <c:h val="0.5482055555555556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F62A-4333-9E14-82FF5AD4B5A2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F62A-4333-9E14-82FF5AD4B5A2}"/>
              </c:ext>
            </c:extLst>
          </c:dPt>
          <c:dPt>
            <c:idx val="2"/>
            <c:invertIfNegative val="0"/>
            <c:bubble3D val="0"/>
            <c:spPr>
              <a:solidFill>
                <a:srgbClr val="7030A0"/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F62A-4333-9E14-82FF5AD4B5A2}"/>
              </c:ext>
            </c:extLst>
          </c:dPt>
          <c:dPt>
            <c:idx val="3"/>
            <c:invertIfNegative val="0"/>
            <c:bubble3D val="0"/>
            <c:spPr>
              <a:solidFill>
                <a:srgbClr val="E97132"/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F62A-4333-9E14-82FF5AD4B5A2}"/>
              </c:ext>
            </c:extLst>
          </c:dPt>
          <c:dPt>
            <c:idx val="4"/>
            <c:invertIfNegative val="0"/>
            <c:bubble3D val="0"/>
            <c:spPr>
              <a:solidFill>
                <a:srgbClr val="225587"/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F62A-4333-9E14-82FF5AD4B5A2}"/>
              </c:ext>
            </c:extLst>
          </c:dPt>
          <c:dPt>
            <c:idx val="5"/>
            <c:invertIfNegative val="0"/>
            <c:bubble3D val="0"/>
            <c:spPr>
              <a:solidFill>
                <a:srgbClr val="F9D359"/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F62A-4333-9E14-82FF5AD4B5A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CC4AC71-B7DE-4085-BC6D-FE85581B7BD8}" type="VALUE">
                      <a:rPr lang="en-US"/>
                      <a:pPr/>
                      <a:t>[VALUE]</a:t>
                    </a:fld>
                    <a:r>
                      <a:rPr lang="en-US"/>
                      <a:t>,</a:t>
                    </a:r>
                  </a:p>
                  <a:p>
                    <a:r>
                      <a:rPr lang="en-US"/>
                      <a:t> </a:t>
                    </a:r>
                    <a:fld id="{4705B853-01A8-4D2D-B1E6-BF3BB5B6D2D5}" type="CELLREF">
                      <a:rPr lang="en-US"/>
                      <a:pPr/>
                      <a:t>[CELLREF]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4061857249233897"/>
                      <c:h val="7.1947756969854518E-2"/>
                    </c:manualLayout>
                  </c15:layout>
                  <c15:dlblFieldTable>
                    <c15:dlblFTEntry>
                      <c15:txfldGUID>{4705B853-01A8-4D2D-B1E6-BF3BB5B6D2D5}</c15:txfldGUID>
                      <c15:f>'Pivot LDB'!$G$113</c15:f>
                      <c15:dlblFieldTableCache>
                        <c:ptCount val="1"/>
                        <c:pt idx="0">
                          <c:v>45.5%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1-F62A-4333-9E14-82FF5AD4B5A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E13BB00-2864-49AF-B4C9-F82F12CB5AD2}" type="VALUE">
                      <a:rPr lang="en-US"/>
                      <a:pPr/>
                      <a:t>[VALUE]</a:t>
                    </a:fld>
                    <a:r>
                      <a:rPr lang="en-US"/>
                      <a:t>,</a:t>
                    </a:r>
                  </a:p>
                  <a:p>
                    <a:fld id="{B28F544F-D60C-4B0A-9E4D-E8B94A2B3389}" type="CELLREF">
                      <a:rPr lang="en-US"/>
                      <a:pPr/>
                      <a:t>[CELLREF]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58598047548486"/>
                      <c:h val="8.7133015933521546E-2"/>
                    </c:manualLayout>
                  </c15:layout>
                  <c15:dlblFieldTable>
                    <c15:dlblFTEntry>
                      <c15:txfldGUID>{B28F544F-D60C-4B0A-9E4D-E8B94A2B3389}</c15:txfldGUID>
                      <c15:f>'Pivot LDB'!$G$114</c15:f>
                      <c15:dlblFieldTableCache>
                        <c:ptCount val="1"/>
                        <c:pt idx="0">
                          <c:v>12.7%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3-F62A-4333-9E14-82FF5AD4B5A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ECC65E6-85CD-40FA-BFDC-4EDCBFF4C9F5}" type="VALUE">
                      <a:rPr lang="en-US"/>
                      <a:pPr/>
                      <a:t>[VALUE]</a:t>
                    </a:fld>
                    <a:r>
                      <a:rPr lang="en-US"/>
                      <a:t>,</a:t>
                    </a:r>
                  </a:p>
                  <a:p>
                    <a:fld id="{2E1DB855-4939-4B6F-B3A2-9D406AEC014C}" type="CELLREF">
                      <a:rPr lang="en-US"/>
                      <a:pPr/>
                      <a:t>[CELLREF]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636111706960548"/>
                      <c:h val="7.1947756969854518E-2"/>
                    </c:manualLayout>
                  </c15:layout>
                  <c15:dlblFieldTable>
                    <c15:dlblFTEntry>
                      <c15:txfldGUID>{2E1DB855-4939-4B6F-B3A2-9D406AEC014C}</c15:txfldGUID>
                      <c15:f>'Pivot LDB'!$G$115</c15:f>
                      <c15:dlblFieldTableCache>
                        <c:ptCount val="1"/>
                        <c:pt idx="0">
                          <c:v>11.8%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5-F62A-4333-9E14-82FF5AD4B5A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AD55335-9DD7-4FDC-A911-E719CA726ACF}" type="VALUE">
                      <a:rPr lang="en-US"/>
                      <a:pPr/>
                      <a:t>[VALUE]</a:t>
                    </a:fld>
                    <a:r>
                      <a:rPr lang="en-US"/>
                      <a:t>,</a:t>
                    </a:r>
                  </a:p>
                  <a:p>
                    <a:fld id="{746F0800-4450-4A28-A0C2-549DC248AD76}" type="CELLREF">
                      <a:rPr lang="en-US"/>
                      <a:pPr/>
                      <a:t>[CELLREF]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636111706960548"/>
                      <c:h val="7.1947756969854518E-2"/>
                    </c:manualLayout>
                  </c15:layout>
                  <c15:dlblFieldTable>
                    <c15:dlblFTEntry>
                      <c15:txfldGUID>{746F0800-4450-4A28-A0C2-549DC248AD76}</c15:txfldGUID>
                      <c15:f>'Pivot LDB'!$G$116</c15:f>
                      <c15:dlblFieldTableCache>
                        <c:ptCount val="1"/>
                        <c:pt idx="0">
                          <c:v>7.7%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7-F62A-4333-9E14-82FF5AD4B5A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CF8CDD59-9894-4E55-AAFF-BA284593F04B}" type="VALUE">
                      <a:rPr lang="en-US"/>
                      <a:pPr/>
                      <a:t>[VALUE]</a:t>
                    </a:fld>
                    <a:r>
                      <a:rPr lang="en-US"/>
                      <a:t>, </a:t>
                    </a:r>
                    <a:fld id="{08B9524D-B2BB-406E-B513-0C5E95A77C89}" type="CELLREF">
                      <a:rPr lang="en-US"/>
                      <a:pPr/>
                      <a:t>[CELLREF]</a:t>
                    </a:fld>
                    <a:endParaRPr lang="en-US"/>
                  </a:p>
                  <a:p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051929849124938"/>
                      <c:h val="9.4019710226996886E-2"/>
                    </c:manualLayout>
                  </c15:layout>
                  <c15:dlblFieldTable>
                    <c15:dlblFTEntry>
                      <c15:txfldGUID>{08B9524D-B2BB-406E-B513-0C5E95A77C89}</c15:txfldGUID>
                      <c15:f>'Pivot LDB'!$G$117</c15:f>
                      <c15:dlblFieldTableCache>
                        <c:ptCount val="1"/>
                        <c:pt idx="0">
                          <c:v>6.1%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9-F62A-4333-9E14-82FF5AD4B5A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59A10A87-38CF-47B3-BAD3-C17CB19B9D0A}" type="VALUE">
                      <a:rPr lang="en-US"/>
                      <a:pPr/>
                      <a:t>[VALUE]</a:t>
                    </a:fld>
                    <a:r>
                      <a:rPr lang="en-US"/>
                      <a:t>, </a:t>
                    </a:r>
                    <a:fld id="{1F506418-C8E0-4D00-BC68-54F4610BFEFE}" type="CELLREF">
                      <a:rPr lang="en-US"/>
                      <a:pPr/>
                      <a:t>[CELLREF]</a:t>
                    </a:fld>
                    <a:endParaRPr lang="en-US"/>
                  </a:p>
                  <a:p>
                    <a:endParaRPr lang="en-US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713671857587297"/>
                      <c:h val="9.7455883235641499E-2"/>
                    </c:manualLayout>
                  </c15:layout>
                  <c15:dlblFieldTable>
                    <c15:dlblFTEntry>
                      <c15:txfldGUID>{1F506418-C8E0-4D00-BC68-54F4610BFEFE}</c15:txfldGUID>
                      <c15:f>'Pivot LDB'!$G$118</c15:f>
                      <c15:dlblFieldTableCache>
                        <c:ptCount val="1"/>
                        <c:pt idx="0">
                          <c:v>16.1%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B-F62A-4333-9E14-82FF5AD4B5A2}"/>
                </c:ext>
              </c:extLst>
            </c:dLbl>
            <c:spPr>
              <a:solidFill>
                <a:srgbClr val="7E7E7E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'Pivot LDB'!$E$113:$E$118</c:f>
              <c:strCache>
                <c:ptCount val="6"/>
                <c:pt idx="0">
                  <c:v>Manufacturing</c:v>
                </c:pt>
                <c:pt idx="1">
                  <c:v>Transportation and Storage</c:v>
                </c:pt>
                <c:pt idx="2">
                  <c:v>Construction</c:v>
                </c:pt>
                <c:pt idx="3">
                  <c:v>Financial and Insurance/ Takaful Activities</c:v>
                </c:pt>
                <c:pt idx="4">
                  <c:v>Electricity, Gas, Steam and Air Conditioning Supply</c:v>
                </c:pt>
                <c:pt idx="5">
                  <c:v>Others</c:v>
                </c:pt>
              </c:strCache>
            </c:strRef>
          </c:cat>
          <c:val>
            <c:numRef>
              <c:f>'Pivot LDB'!$F$113:$F$118</c:f>
              <c:numCache>
                <c:formatCode>"RM"#,##0.00,,"M"</c:formatCode>
                <c:ptCount val="6"/>
                <c:pt idx="0">
                  <c:v>1333221857.9599998</c:v>
                </c:pt>
                <c:pt idx="1">
                  <c:v>373575133.15000004</c:v>
                </c:pt>
                <c:pt idx="2">
                  <c:v>346638033.22000003</c:v>
                </c:pt>
                <c:pt idx="3">
                  <c:v>225293527.20000002</c:v>
                </c:pt>
                <c:pt idx="4">
                  <c:v>180016198.93000001</c:v>
                </c:pt>
                <c:pt idx="5">
                  <c:v>472865887.27999997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62A-4333-9E14-82FF5AD4B5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"/>
        <c:overlap val="1"/>
        <c:axId val="1337221632"/>
        <c:axId val="1337208672"/>
      </c:barChart>
      <c:catAx>
        <c:axId val="1337221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37208672"/>
        <c:crosses val="autoZero"/>
        <c:auto val="1"/>
        <c:lblAlgn val="ctr"/>
        <c:lblOffset val="100"/>
        <c:noMultiLvlLbl val="0"/>
      </c:catAx>
      <c:valAx>
        <c:axId val="1337208672"/>
        <c:scaling>
          <c:orientation val="minMax"/>
        </c:scaling>
        <c:delete val="1"/>
        <c:axPos val="l"/>
        <c:numFmt formatCode="&quot;RM&quot;#,##0.00,,&quot;M&quot;" sourceLinked="1"/>
        <c:majorTickMark val="none"/>
        <c:minorTickMark val="none"/>
        <c:tickLblPos val="nextTo"/>
        <c:crossAx val="133722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4677627627627622E-2"/>
          <c:y val="0.68520439814814815"/>
          <c:w val="0.86308348348348363"/>
          <c:h val="0.14076304611033777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8596165630839949E-2"/>
          <c:y val="3.8326495652398165E-2"/>
          <c:w val="0.76530690425929071"/>
          <c:h val="0.80953075968765964"/>
        </c:manualLayout>
      </c:layout>
      <c:lineChart>
        <c:grouping val="standard"/>
        <c:varyColors val="0"/>
        <c:ser>
          <c:idx val="0"/>
          <c:order val="0"/>
          <c:tx>
            <c:strRef>
              <c:f>'Pivot LDB'!$E$191</c:f>
              <c:strCache>
                <c:ptCount val="1"/>
                <c:pt idx="0">
                  <c:v>Stage 1</c:v>
                </c:pt>
              </c:strCache>
            </c:strRef>
          </c:tx>
          <c:spPr>
            <a:ln w="22225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3">
                  <a:lumMod val="75000"/>
                </a:schemeClr>
              </a:solidFill>
              <a:ln w="9525">
                <a:solidFill>
                  <a:schemeClr val="accent3">
                    <a:lumMod val="75000"/>
                  </a:schemeClr>
                </a:solidFill>
                <a:round/>
              </a:ln>
              <a:effectLst/>
            </c:spPr>
          </c:marker>
          <c:cat>
            <c:numRef>
              <c:f>'Pivot LDB'!$D$192:$D$209</c:f>
              <c:numCache>
                <c:formatCode>mmm\-yy</c:formatCode>
                <c:ptCount val="18"/>
                <c:pt idx="0">
                  <c:v>45627</c:v>
                </c:pt>
                <c:pt idx="1">
                  <c:v>45658</c:v>
                </c:pt>
                <c:pt idx="2">
                  <c:v>45689</c:v>
                </c:pt>
                <c:pt idx="3">
                  <c:v>45717</c:v>
                </c:pt>
                <c:pt idx="4">
                  <c:v>45748</c:v>
                </c:pt>
                <c:pt idx="5">
                  <c:v>45778</c:v>
                </c:pt>
                <c:pt idx="6">
                  <c:v>45809</c:v>
                </c:pt>
                <c:pt idx="7">
                  <c:v>45839</c:v>
                </c:pt>
                <c:pt idx="8">
                  <c:v>45870</c:v>
                </c:pt>
                <c:pt idx="9">
                  <c:v>45901</c:v>
                </c:pt>
                <c:pt idx="10">
                  <c:v>45931</c:v>
                </c:pt>
                <c:pt idx="11">
                  <c:v>45962</c:v>
                </c:pt>
                <c:pt idx="12">
                  <c:v>45992</c:v>
                </c:pt>
                <c:pt idx="13">
                  <c:v>46023</c:v>
                </c:pt>
                <c:pt idx="14">
                  <c:v>46054</c:v>
                </c:pt>
                <c:pt idx="15">
                  <c:v>46082</c:v>
                </c:pt>
                <c:pt idx="16">
                  <c:v>46113</c:v>
                </c:pt>
                <c:pt idx="17">
                  <c:v>46143</c:v>
                </c:pt>
              </c:numCache>
            </c:numRef>
          </c:cat>
          <c:val>
            <c:numRef>
              <c:f>'Pivot LDB'!$E$192:$E$209</c:f>
              <c:numCache>
                <c:formatCode>"RM"#,##0,,"M"</c:formatCode>
                <c:ptCount val="18"/>
                <c:pt idx="0">
                  <c:v>2269880000</c:v>
                </c:pt>
                <c:pt idx="1">
                  <c:v>2159360000</c:v>
                </c:pt>
                <c:pt idx="2">
                  <c:v>2481310000</c:v>
                </c:pt>
                <c:pt idx="3">
                  <c:v>2535190000</c:v>
                </c:pt>
                <c:pt idx="4">
                  <c:v>2406150000</c:v>
                </c:pt>
                <c:pt idx="5">
                  <c:v>2484820000</c:v>
                </c:pt>
                <c:pt idx="6">
                  <c:v>2758220000</c:v>
                </c:pt>
                <c:pt idx="7">
                  <c:v>3023920000</c:v>
                </c:pt>
                <c:pt idx="8">
                  <c:v>2944480000</c:v>
                </c:pt>
                <c:pt idx="9">
                  <c:v>2934050000</c:v>
                </c:pt>
                <c:pt idx="10">
                  <c:v>2973360000</c:v>
                </c:pt>
                <c:pt idx="11">
                  <c:v>2813390000</c:v>
                </c:pt>
                <c:pt idx="12">
                  <c:v>2928320000</c:v>
                </c:pt>
                <c:pt idx="13">
                  <c:v>2845200000</c:v>
                </c:pt>
                <c:pt idx="14">
                  <c:v>2926910000</c:v>
                </c:pt>
                <c:pt idx="15">
                  <c:v>2926910000</c:v>
                </c:pt>
                <c:pt idx="16">
                  <c:v>3031077386.7299991</c:v>
                </c:pt>
                <c:pt idx="17">
                  <c:v>3160539469.2399993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3E-4BFF-B708-6352AD4F0DA0}"/>
            </c:ext>
          </c:extLst>
        </c:ser>
        <c:ser>
          <c:idx val="1"/>
          <c:order val="1"/>
          <c:tx>
            <c:strRef>
              <c:f>'Pivot LDB'!$F$191</c:f>
              <c:strCache>
                <c:ptCount val="1"/>
                <c:pt idx="0">
                  <c:v>Stage 2</c:v>
                </c:pt>
              </c:strCache>
            </c:strRef>
          </c:tx>
          <c:spPr>
            <a:ln w="22225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2">
                  <a:lumMod val="50000"/>
                </a:schemeClr>
              </a:solidFill>
              <a:ln w="9525">
                <a:solidFill>
                  <a:schemeClr val="accent2">
                    <a:lumMod val="50000"/>
                  </a:schemeClr>
                </a:solidFill>
                <a:round/>
              </a:ln>
              <a:effectLst/>
            </c:spPr>
          </c:marker>
          <c:cat>
            <c:numRef>
              <c:f>'Pivot LDB'!$D$192:$D$209</c:f>
              <c:numCache>
                <c:formatCode>mmm\-yy</c:formatCode>
                <c:ptCount val="18"/>
                <c:pt idx="0">
                  <c:v>45627</c:v>
                </c:pt>
                <c:pt idx="1">
                  <c:v>45658</c:v>
                </c:pt>
                <c:pt idx="2">
                  <c:v>45689</c:v>
                </c:pt>
                <c:pt idx="3">
                  <c:v>45717</c:v>
                </c:pt>
                <c:pt idx="4">
                  <c:v>45748</c:v>
                </c:pt>
                <c:pt idx="5">
                  <c:v>45778</c:v>
                </c:pt>
                <c:pt idx="6">
                  <c:v>45809</c:v>
                </c:pt>
                <c:pt idx="7">
                  <c:v>45839</c:v>
                </c:pt>
                <c:pt idx="8">
                  <c:v>45870</c:v>
                </c:pt>
                <c:pt idx="9">
                  <c:v>45901</c:v>
                </c:pt>
                <c:pt idx="10">
                  <c:v>45931</c:v>
                </c:pt>
                <c:pt idx="11">
                  <c:v>45962</c:v>
                </c:pt>
                <c:pt idx="12">
                  <c:v>45992</c:v>
                </c:pt>
                <c:pt idx="13">
                  <c:v>46023</c:v>
                </c:pt>
                <c:pt idx="14">
                  <c:v>46054</c:v>
                </c:pt>
                <c:pt idx="15">
                  <c:v>46082</c:v>
                </c:pt>
                <c:pt idx="16">
                  <c:v>46113</c:v>
                </c:pt>
                <c:pt idx="17">
                  <c:v>46143</c:v>
                </c:pt>
              </c:numCache>
            </c:numRef>
          </c:cat>
          <c:val>
            <c:numRef>
              <c:f>'Pivot LDB'!$F$192:$F$209</c:f>
              <c:numCache>
                <c:formatCode>"RM"#,##0,,"M"</c:formatCode>
                <c:ptCount val="18"/>
                <c:pt idx="0">
                  <c:v>661390000</c:v>
                </c:pt>
                <c:pt idx="1">
                  <c:v>521500000</c:v>
                </c:pt>
                <c:pt idx="2">
                  <c:v>331800000</c:v>
                </c:pt>
                <c:pt idx="3">
                  <c:v>330720000</c:v>
                </c:pt>
                <c:pt idx="4">
                  <c:v>319690000</c:v>
                </c:pt>
                <c:pt idx="5">
                  <c:v>314880000</c:v>
                </c:pt>
                <c:pt idx="6">
                  <c:v>316850000</c:v>
                </c:pt>
                <c:pt idx="7">
                  <c:v>229100000</c:v>
                </c:pt>
                <c:pt idx="8">
                  <c:v>234200000</c:v>
                </c:pt>
                <c:pt idx="9">
                  <c:v>227950000</c:v>
                </c:pt>
                <c:pt idx="10">
                  <c:v>208600000</c:v>
                </c:pt>
                <c:pt idx="11">
                  <c:v>210520000</c:v>
                </c:pt>
                <c:pt idx="12">
                  <c:v>172380000</c:v>
                </c:pt>
                <c:pt idx="13">
                  <c:v>150480000</c:v>
                </c:pt>
                <c:pt idx="14">
                  <c:v>151340000</c:v>
                </c:pt>
                <c:pt idx="15">
                  <c:v>151550000</c:v>
                </c:pt>
                <c:pt idx="16">
                  <c:v>147520516.68000001</c:v>
                </c:pt>
                <c:pt idx="17">
                  <c:v>147499500.43000001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63E-4BFF-B708-6352AD4F0DA0}"/>
            </c:ext>
          </c:extLst>
        </c:ser>
        <c:ser>
          <c:idx val="2"/>
          <c:order val="2"/>
          <c:tx>
            <c:strRef>
              <c:f>'Pivot LDB'!$G$191</c:f>
              <c:strCache>
                <c:ptCount val="1"/>
                <c:pt idx="0">
                  <c:v>Stage 3</c:v>
                </c:pt>
              </c:strCache>
            </c:strRef>
          </c:tx>
          <c:spPr>
            <a:ln w="22225" cap="rnd">
              <a:solidFill>
                <a:srgbClr val="FF0000"/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accent3"/>
              </a:solidFill>
              <a:ln w="9525">
                <a:solidFill>
                  <a:srgbClr val="FF0000"/>
                </a:solidFill>
                <a:round/>
              </a:ln>
              <a:effectLst/>
            </c:spPr>
          </c:marker>
          <c:cat>
            <c:numRef>
              <c:f>'Pivot LDB'!$D$192:$D$209</c:f>
              <c:numCache>
                <c:formatCode>mmm\-yy</c:formatCode>
                <c:ptCount val="18"/>
                <c:pt idx="0">
                  <c:v>45627</c:v>
                </c:pt>
                <c:pt idx="1">
                  <c:v>45658</c:v>
                </c:pt>
                <c:pt idx="2">
                  <c:v>45689</c:v>
                </c:pt>
                <c:pt idx="3">
                  <c:v>45717</c:v>
                </c:pt>
                <c:pt idx="4">
                  <c:v>45748</c:v>
                </c:pt>
                <c:pt idx="5">
                  <c:v>45778</c:v>
                </c:pt>
                <c:pt idx="6">
                  <c:v>45809</c:v>
                </c:pt>
                <c:pt idx="7">
                  <c:v>45839</c:v>
                </c:pt>
                <c:pt idx="8">
                  <c:v>45870</c:v>
                </c:pt>
                <c:pt idx="9">
                  <c:v>45901</c:v>
                </c:pt>
                <c:pt idx="10">
                  <c:v>45931</c:v>
                </c:pt>
                <c:pt idx="11">
                  <c:v>45962</c:v>
                </c:pt>
                <c:pt idx="12">
                  <c:v>45992</c:v>
                </c:pt>
                <c:pt idx="13">
                  <c:v>46023</c:v>
                </c:pt>
                <c:pt idx="14">
                  <c:v>46054</c:v>
                </c:pt>
                <c:pt idx="15">
                  <c:v>46082</c:v>
                </c:pt>
                <c:pt idx="16">
                  <c:v>46113</c:v>
                </c:pt>
                <c:pt idx="17">
                  <c:v>46143</c:v>
                </c:pt>
              </c:numCache>
            </c:numRef>
          </c:cat>
          <c:val>
            <c:numRef>
              <c:f>'Pivot LDB'!$G$192:$G$209</c:f>
              <c:numCache>
                <c:formatCode>"RM"#,##0,,"M"</c:formatCode>
                <c:ptCount val="18"/>
                <c:pt idx="0">
                  <c:v>1954020000</c:v>
                </c:pt>
                <c:pt idx="1">
                  <c:v>1960600000</c:v>
                </c:pt>
                <c:pt idx="2">
                  <c:v>2013610000</c:v>
                </c:pt>
                <c:pt idx="3">
                  <c:v>2004600000</c:v>
                </c:pt>
                <c:pt idx="4">
                  <c:v>1943830000</c:v>
                </c:pt>
                <c:pt idx="5">
                  <c:v>1917720000</c:v>
                </c:pt>
                <c:pt idx="6">
                  <c:v>1902080000</c:v>
                </c:pt>
                <c:pt idx="7">
                  <c:v>2024640000</c:v>
                </c:pt>
                <c:pt idx="8">
                  <c:v>2007360000</c:v>
                </c:pt>
                <c:pt idx="9">
                  <c:v>1940470000</c:v>
                </c:pt>
                <c:pt idx="10">
                  <c:v>1890130000</c:v>
                </c:pt>
                <c:pt idx="11">
                  <c:v>1866240000</c:v>
                </c:pt>
                <c:pt idx="12">
                  <c:v>277910000</c:v>
                </c:pt>
                <c:pt idx="13">
                  <c:v>271810000</c:v>
                </c:pt>
                <c:pt idx="14">
                  <c:v>271770000</c:v>
                </c:pt>
                <c:pt idx="15">
                  <c:v>279510000</c:v>
                </c:pt>
                <c:pt idx="16">
                  <c:v>273533721.31</c:v>
                </c:pt>
                <c:pt idx="17">
                  <c:v>277518594.21000004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63E-4BFF-B708-6352AD4F0D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28001951"/>
        <c:axId val="1928002431"/>
      </c:lineChart>
      <c:dateAx>
        <c:axId val="19280019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28002431"/>
        <c:crosses val="autoZero"/>
        <c:auto val="1"/>
        <c:lblOffset val="100"/>
        <c:baseTimeUnit val="months"/>
      </c:dateAx>
      <c:valAx>
        <c:axId val="1928002431"/>
        <c:scaling>
          <c:orientation val="minMax"/>
        </c:scaling>
        <c:delete val="0"/>
        <c:axPos val="l"/>
        <c:numFmt formatCode="&quot;RM&quot;#,##0,,&quot;M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2800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sz="8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8502518429656687E-2"/>
          <c:y val="6.5582163785462888E-2"/>
          <c:w val="0.82831206001579283"/>
          <c:h val="0.8477891775934343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by Category</c:v>
                </c:pt>
              </c:strCache>
            </c:strRef>
          </c:tx>
          <c:explosion val="1"/>
          <c:dPt>
            <c:idx val="0"/>
            <c:bubble3D val="0"/>
            <c:spPr>
              <a:solidFill>
                <a:srgbClr val="076DD8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424-49F5-8DAA-C1D5E65E1F59}"/>
              </c:ext>
            </c:extLst>
          </c:dPt>
          <c:dPt>
            <c:idx val="1"/>
            <c:bubble3D val="0"/>
            <c:spPr>
              <a:solidFill>
                <a:srgbClr val="FFE48E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424-49F5-8DAA-C1D5E65E1F5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7424-49F5-8DAA-C1D5E65E1F59}"/>
              </c:ext>
            </c:extLst>
          </c:dPt>
          <c:dLbls>
            <c:dLbl>
              <c:idx val="0"/>
              <c:layout>
                <c:manualLayout>
                  <c:x val="0.12407859096850693"/>
                  <c:y val="-4.324026513680111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algn="ctr">
                      <a:defRPr lang="en-US" sz="80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9A4936C-FF38-4483-90B2-46C81F921E1A}" type="CATEGORYNAME">
                      <a:rPr lang="it-IT" smtClean="0"/>
                      <a:pPr algn="ctr"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[CATEGORY NAME]</a:t>
                    </a:fld>
                    <a:r>
                      <a:rPr lang="it-IT"/>
                      <a:t>, NOC:</a:t>
                    </a:r>
                    <a:r>
                      <a:rPr lang="it-IT" baseline="0"/>
                      <a:t> </a:t>
                    </a:r>
                    <a:r>
                      <a:rPr lang="it-IT"/>
                      <a:t>17 </a:t>
                    </a:r>
                    <a:fld id="{5D9CA64A-7915-41A0-8FB3-DDDAF0B9D59A}" type="VALUE">
                      <a:rPr lang="it-IT" smtClean="0"/>
                      <a:pPr algn="ctr"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[VALUE]</a:t>
                    </a:fld>
                    <a:r>
                      <a:rPr lang="it-IT"/>
                      <a:t>, </a:t>
                    </a:r>
                    <a:fld id="{F4AA5EAB-4631-4E64-87AD-91742486388C}" type="PERCENTAGE">
                      <a:rPr lang="it-IT" smtClean="0"/>
                      <a:pPr algn="ctr"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[PERCENTAGE]</a:t>
                    </a:fld>
                    <a:endParaRPr lang="it-IT"/>
                  </a:p>
                </c:rich>
              </c:tx>
              <c:spPr>
                <a:pattFill prst="pct75">
                  <a:fgClr>
                    <a:prstClr val="black">
                      <a:lumMod val="75000"/>
                      <a:lumOff val="25000"/>
                    </a:prstClr>
                  </a:fgClr>
                  <a:bgClr>
                    <a:prstClr val="black">
                      <a:lumMod val="65000"/>
                      <a:lumOff val="35000"/>
                    </a:prst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80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648092498012319"/>
                      <c:h val="0.1329639700568128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424-49F5-8DAA-C1D5E65E1F59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algn="ctr">
                      <a:defRPr lang="en-US" sz="80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9A4936C-FF38-4483-90B2-46C81F921E1A}" type="CATEGORYNAME">
                      <a:rPr lang="it-IT" sz="800" b="1" i="0" u="none" strike="noStrike" kern="1200" baseline="0" smtClean="0">
                        <a:solidFill>
                          <a:prstClr val="white"/>
                        </a:solidFill>
                      </a:rPr>
                      <a:pPr algn="ctr"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[CATEGORY NAME]</a:t>
                    </a:fld>
                    <a:r>
                      <a:rPr lang="it-IT" sz="800" b="1" i="0" u="none" strike="noStrike" kern="1200" baseline="0">
                        <a:solidFill>
                          <a:prstClr val="white"/>
                        </a:solidFill>
                      </a:rPr>
                      <a:t>, NOC: 38 </a:t>
                    </a:r>
                    <a:br>
                      <a:rPr lang="it-IT" sz="800" b="1" i="0" u="none" strike="noStrike" kern="1200" baseline="0">
                        <a:solidFill>
                          <a:prstClr val="white"/>
                        </a:solidFill>
                      </a:rPr>
                    </a:br>
                    <a:fld id="{5D9CA64A-7915-41A0-8FB3-DDDAF0B9D59A}" type="VALUE">
                      <a:rPr lang="it-IT" sz="800" b="1" i="0" u="none" strike="noStrike" kern="1200" baseline="0" smtClean="0">
                        <a:solidFill>
                          <a:prstClr val="white"/>
                        </a:solidFill>
                      </a:rPr>
                      <a:pPr algn="ctr"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[VALUE]</a:t>
                    </a:fld>
                    <a:r>
                      <a:rPr lang="it-IT" sz="800" b="1" i="0" u="none" strike="noStrike" kern="1200" baseline="0">
                        <a:solidFill>
                          <a:prstClr val="white"/>
                        </a:solidFill>
                      </a:rPr>
                      <a:t>, </a:t>
                    </a:r>
                    <a:fld id="{F4AA5EAB-4631-4E64-87AD-91742486388C}" type="PERCENTAGE">
                      <a:rPr lang="it-IT" sz="800" b="1" i="0" u="none" strike="noStrike" kern="1200" baseline="0" smtClean="0">
                        <a:solidFill>
                          <a:prstClr val="white"/>
                        </a:solidFill>
                      </a:rPr>
                      <a:pPr algn="ctr"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[PERCENTAGE]</a:t>
                    </a:fld>
                    <a:endParaRPr lang="it-IT" sz="800" b="1" i="0" u="none" strike="noStrike" kern="1200" baseline="0">
                      <a:solidFill>
                        <a:prstClr val="white"/>
                      </a:solidFill>
                    </a:endParaRPr>
                  </a:p>
                </c:rich>
              </c:tx>
              <c:spPr>
                <a:pattFill prst="pct75">
                  <a:fgClr>
                    <a:prstClr val="black">
                      <a:lumMod val="75000"/>
                      <a:lumOff val="25000"/>
                    </a:prstClr>
                  </a:fgClr>
                  <a:bgClr>
                    <a:prstClr val="black">
                      <a:lumMod val="65000"/>
                      <a:lumOff val="35000"/>
                    </a:prst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80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279643429865107"/>
                      <c:h val="0.1417494509848225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424-49F5-8DAA-C1D5E65E1F59}"/>
                </c:ext>
              </c:extLst>
            </c:dLbl>
            <c:dLbl>
              <c:idx val="2"/>
              <c:layout>
                <c:manualLayout>
                  <c:x val="-5.9900009433072388E-2"/>
                  <c:y val="-1.572373277701858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lang="en-US" sz="80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9A4936C-FF38-4483-90B2-46C81F921E1A}" type="CATEGORYNAME">
                      <a:rPr lang="pl-PL" sz="800" b="1" i="0" u="none" strike="noStrike" kern="1200" baseline="0" smtClean="0">
                        <a:solidFill>
                          <a:prstClr val="white"/>
                        </a:solidFill>
                      </a:rPr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[CATEGORY NAME]</a:t>
                    </a:fld>
                    <a:r>
                      <a:rPr lang="pl-PL" sz="800" b="1" i="0" u="none" strike="noStrike" kern="1200" baseline="0">
                        <a:solidFill>
                          <a:prstClr val="white"/>
                        </a:solidFill>
                      </a:rPr>
                      <a:t>, NOC: 55</a:t>
                    </a:r>
                    <a:br>
                      <a:rPr lang="pl-PL" sz="800" b="1" i="0" u="none" strike="noStrike" kern="1200" baseline="0">
                        <a:solidFill>
                          <a:prstClr val="white"/>
                        </a:solidFill>
                      </a:rPr>
                    </a:br>
                    <a:fld id="{5D9CA64A-7915-41A0-8FB3-DDDAF0B9D59A}" type="VALUE">
                      <a:rPr lang="pl-PL" sz="800" b="1" i="0" u="none" strike="noStrike" kern="1200" baseline="0" smtClean="0">
                        <a:solidFill>
                          <a:prstClr val="white"/>
                        </a:solidFill>
                      </a:rPr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[VALUE]</a:t>
                    </a:fld>
                    <a:r>
                      <a:rPr lang="pl-PL" sz="800" b="1" i="0" u="none" strike="noStrike" kern="1200" baseline="0">
                        <a:solidFill>
                          <a:prstClr val="white"/>
                        </a:solidFill>
                      </a:rPr>
                      <a:t>, </a:t>
                    </a:r>
                    <a:fld id="{F4AA5EAB-4631-4E64-87AD-91742486388C}" type="PERCENTAGE">
                      <a:rPr lang="pl-PL" sz="800" b="1" i="0" u="none" strike="noStrike" kern="1200" baseline="0" smtClean="0">
                        <a:solidFill>
                          <a:prstClr val="white"/>
                        </a:solidFill>
                      </a:rPr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[PERCENTAGE]</a:t>
                    </a:fld>
                    <a:endParaRPr lang="pl-PL" sz="800" b="1" i="0" u="none" strike="noStrike" kern="1200" baseline="0">
                      <a:solidFill>
                        <a:prstClr val="white"/>
                      </a:solidFill>
                    </a:endParaRPr>
                  </a:p>
                </c:rich>
              </c:tx>
              <c:spPr>
                <a:pattFill prst="pct75">
                  <a:fgClr>
                    <a:prstClr val="black">
                      <a:lumMod val="75000"/>
                      <a:lumOff val="25000"/>
                    </a:prstClr>
                  </a:fgClr>
                  <a:bgClr>
                    <a:prstClr val="black">
                      <a:lumMod val="65000"/>
                      <a:lumOff val="35000"/>
                    </a:prst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lang="en-US" sz="80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l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232808225642"/>
                      <c:h val="0.126949642269603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7424-49F5-8DAA-C1D5E65E1F59}"/>
                </c:ext>
              </c:extLst>
            </c:dLbl>
            <c:spPr>
              <a:pattFill prst="pct75">
                <a:fgClr>
                  <a:prstClr val="black">
                    <a:lumMod val="75000"/>
                    <a:lumOff val="25000"/>
                  </a:prstClr>
                </a:fgClr>
                <a:bgClr>
                  <a:prstClr val="black">
                    <a:lumMod val="65000"/>
                    <a:lumOff val="35000"/>
                  </a:prst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1" i="0" u="none" strike="noStrike" kern="1200" baseline="0">
                    <a:solidFill>
                      <a:prstClr val="whit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Non-SME Commercial</c:v>
                </c:pt>
                <c:pt idx="1">
                  <c:v>Non-SME Corporate</c:v>
                </c:pt>
                <c:pt idx="2">
                  <c:v>SME</c:v>
                </c:pt>
              </c:strCache>
            </c:strRef>
          </c:cat>
          <c:val>
            <c:numRef>
              <c:f>Sheet1!$B$2:$B$4</c:f>
              <c:numCache>
                <c:formatCode>"RM"#,##0.00,,"M"</c:formatCode>
                <c:ptCount val="3"/>
                <c:pt idx="0">
                  <c:v>406613570.43000013</c:v>
                </c:pt>
                <c:pt idx="1">
                  <c:v>1920287443.8800001</c:v>
                </c:pt>
                <c:pt idx="2">
                  <c:v>332844644.09000003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424-49F5-8DAA-C1D5E65E1F5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8502518429656687E-2"/>
          <c:y val="6.5582163785462888E-2"/>
          <c:w val="0.82831206001579283"/>
          <c:h val="0.8477891775934343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by Category</c:v>
                </c:pt>
              </c:strCache>
            </c:strRef>
          </c:tx>
          <c:explosion val="1"/>
          <c:dPt>
            <c:idx val="0"/>
            <c:bubble3D val="0"/>
            <c:explosion val="0"/>
            <c:spPr>
              <a:solidFill>
                <a:srgbClr val="076DD8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234-4DD4-A0F9-4111C46AAA6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234-4DD4-A0F9-4111C46AAA6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2234-4DD4-A0F9-4111C46AAA63}"/>
              </c:ext>
            </c:extLst>
          </c:dPt>
          <c:dPt>
            <c:idx val="3"/>
            <c:bubble3D val="0"/>
            <c:spPr>
              <a:solidFill>
                <a:srgbClr val="FFE48E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2234-4DD4-A0F9-4111C46AAA63}"/>
              </c:ext>
            </c:extLst>
          </c:dPt>
          <c:dLbls>
            <c:dLbl>
              <c:idx val="0"/>
              <c:layout>
                <c:manualLayout>
                  <c:x val="0.10867272727272727"/>
                  <c:y val="-5.399760101010102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lang="en-US" sz="80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B082182-73E6-4736-991D-6144CA880610}" type="CATEGORYNAME">
                      <a:rPr lang="en-US" sz="800" b="1" i="0" u="none" strike="noStrike" kern="1200" baseline="0" smtClean="0">
                        <a:solidFill>
                          <a:prstClr val="white"/>
                        </a:solidFill>
                      </a:rPr>
                      <a:pPr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[CATEGORY NAME]</a:t>
                    </a:fld>
                    <a:r>
                      <a:rPr lang="en-US" sz="800" b="1" i="0" u="none" strike="noStrike" kern="1200" baseline="0">
                        <a:solidFill>
                          <a:prstClr val="white"/>
                        </a:solidFill>
                      </a:rPr>
                      <a:t>, </a:t>
                    </a:r>
                    <a:br>
                      <a:rPr lang="en-US" sz="800" b="1" i="0" u="none" strike="noStrike" kern="1200" baseline="0">
                        <a:solidFill>
                          <a:prstClr val="white"/>
                        </a:solidFill>
                      </a:rPr>
                    </a:br>
                    <a:fld id="{C7FDF24A-7956-4456-A971-F928665C1A62}" type="VALUE">
                      <a:rPr lang="en-US" sz="800" b="1" i="0" u="none" strike="noStrike" kern="1200" baseline="0" smtClean="0">
                        <a:solidFill>
                          <a:prstClr val="white"/>
                        </a:solidFill>
                      </a:rPr>
                      <a:pPr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[VALUE]</a:t>
                    </a:fld>
                    <a:r>
                      <a:rPr lang="en-US" sz="800" b="1" i="0" u="none" strike="noStrike" kern="1200" baseline="0">
                        <a:solidFill>
                          <a:prstClr val="white"/>
                        </a:solidFill>
                      </a:rPr>
                      <a:t>, NOC:20, </a:t>
                    </a:r>
                    <a:fld id="{0E2044E2-9994-4C07-9F65-B9A92E1E6FE3}" type="PERCENTAGE">
                      <a:rPr lang="en-US" sz="800" b="1" i="0" u="none" strike="noStrike" kern="1200" baseline="0" smtClean="0">
                        <a:solidFill>
                          <a:prstClr val="white"/>
                        </a:solidFill>
                      </a:rPr>
                      <a:pPr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[PERCENTAGE]</a:t>
                    </a:fld>
                    <a:endParaRPr lang="en-US" sz="800" b="1" i="0" u="none" strike="noStrike" kern="1200" baseline="0">
                      <a:solidFill>
                        <a:prstClr val="white"/>
                      </a:solidFill>
                    </a:endParaRPr>
                  </a:p>
                </c:rich>
              </c:tx>
              <c:spPr>
                <a:pattFill prst="pct75">
                  <a:fgClr>
                    <a:prstClr val="black">
                      <a:lumMod val="75000"/>
                      <a:lumOff val="25000"/>
                    </a:prstClr>
                  </a:fgClr>
                  <a:bgClr>
                    <a:prstClr val="black">
                      <a:lumMod val="65000"/>
                      <a:lumOff val="35000"/>
                    </a:prst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80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771717171717172"/>
                      <c:h val="0.1338876262626262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234-4DD4-A0F9-4111C46AAA63}"/>
                </c:ext>
              </c:extLst>
            </c:dLbl>
            <c:dLbl>
              <c:idx val="1"/>
              <c:layout>
                <c:manualLayout>
                  <c:x val="-9.5140404040404039E-2"/>
                  <c:y val="9.207020202020202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lang="en-US" sz="80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B082182-73E6-4736-991D-6144CA880610}" type="CATEGORYNAME">
                      <a:rPr lang="en-US" smtClean="0"/>
                      <a:pPr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[CATEGORY NAME]</a:t>
                    </a:fld>
                    <a:r>
                      <a:rPr lang="en-US"/>
                      <a:t>, </a:t>
                    </a:r>
                    <a:br>
                      <a:rPr lang="en-US"/>
                    </a:br>
                    <a:fld id="{C7FDF24A-7956-4456-A971-F928665C1A62}" type="VALUE">
                      <a:rPr lang="en-US" smtClean="0"/>
                      <a:pPr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[VALUE]</a:t>
                    </a:fld>
                    <a:r>
                      <a:rPr lang="en-US"/>
                      <a:t>,</a:t>
                    </a:r>
                    <a:r>
                      <a:rPr lang="en-US" baseline="0"/>
                      <a:t> NOC: 33,</a:t>
                    </a:r>
                    <a:r>
                      <a:rPr lang="en-US"/>
                      <a:t> </a:t>
                    </a:r>
                    <a:fld id="{0E2044E2-9994-4C07-9F65-B9A92E1E6FE3}" type="PERCENTAGE">
                      <a:rPr lang="en-US" smtClean="0"/>
                      <a:pPr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[PERCENTAGE]</a:t>
                    </a:fld>
                    <a:endParaRPr lang="en-US"/>
                  </a:p>
                </c:rich>
              </c:tx>
              <c:spPr>
                <a:pattFill prst="pct75">
                  <a:fgClr>
                    <a:prstClr val="black">
                      <a:lumMod val="75000"/>
                      <a:lumOff val="25000"/>
                    </a:prstClr>
                  </a:fgClr>
                  <a:bgClr>
                    <a:prstClr val="black">
                      <a:lumMod val="65000"/>
                      <a:lumOff val="35000"/>
                    </a:prst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80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816998396377697"/>
                      <c:h val="0.1565495692223407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234-4DD4-A0F9-4111C46AAA63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lang="en-US" sz="80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B082182-73E6-4736-991D-6144CA880610}" type="CATEGORYNAME">
                      <a:rPr lang="en-US" sz="800" b="1" i="0" u="none" strike="noStrike" kern="1200" baseline="0" smtClean="0">
                        <a:solidFill>
                          <a:prstClr val="white"/>
                        </a:solidFill>
                      </a:rPr>
                      <a:pPr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[CATEGORY NAME]</a:t>
                    </a:fld>
                    <a:r>
                      <a:rPr lang="en-US" sz="800" b="1" i="0" u="none" strike="noStrike" kern="1200" baseline="0">
                        <a:solidFill>
                          <a:prstClr val="white"/>
                        </a:solidFill>
                      </a:rPr>
                      <a:t>, </a:t>
                    </a:r>
                    <a:br>
                      <a:rPr lang="en-US" sz="800" b="1" i="0" u="none" strike="noStrike" kern="1200" baseline="0">
                        <a:solidFill>
                          <a:prstClr val="white"/>
                        </a:solidFill>
                      </a:rPr>
                    </a:br>
                    <a:fld id="{C7FDF24A-7956-4456-A971-F928665C1A62}" type="VALUE">
                      <a:rPr lang="en-US" sz="800" b="1" i="0" u="none" strike="noStrike" kern="1200" baseline="0" smtClean="0">
                        <a:solidFill>
                          <a:prstClr val="white"/>
                        </a:solidFill>
                      </a:rPr>
                      <a:pPr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[VALUE]</a:t>
                    </a:fld>
                    <a:r>
                      <a:rPr lang="en-US" sz="800" b="1" i="0" u="none" strike="noStrike" kern="1200" baseline="0">
                        <a:solidFill>
                          <a:prstClr val="white"/>
                        </a:solidFill>
                      </a:rPr>
                      <a:t>, NOC: 36, </a:t>
                    </a:r>
                    <a:fld id="{0E2044E2-9994-4C07-9F65-B9A92E1E6FE3}" type="PERCENTAGE">
                      <a:rPr lang="en-US" sz="800" b="1" i="0" u="none" strike="noStrike" kern="1200" baseline="0" smtClean="0">
                        <a:solidFill>
                          <a:prstClr val="white"/>
                        </a:solidFill>
                      </a:rPr>
                      <a:pPr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[PERCENTAGE]</a:t>
                    </a:fld>
                    <a:endParaRPr lang="en-US" sz="800" b="1" i="0" u="none" strike="noStrike" kern="1200" baseline="0">
                      <a:solidFill>
                        <a:prstClr val="white"/>
                      </a:solidFill>
                    </a:endParaRPr>
                  </a:p>
                </c:rich>
              </c:tx>
              <c:spPr>
                <a:pattFill prst="pct75">
                  <a:fgClr>
                    <a:prstClr val="black">
                      <a:lumMod val="75000"/>
                      <a:lumOff val="25000"/>
                    </a:prstClr>
                  </a:fgClr>
                  <a:bgClr>
                    <a:prstClr val="black">
                      <a:lumMod val="65000"/>
                      <a:lumOff val="35000"/>
                    </a:prst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80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806433355343837"/>
                      <c:h val="0.11816385181929467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234-4DD4-A0F9-4111C46AAA63}"/>
                </c:ext>
              </c:extLst>
            </c:dLbl>
            <c:dLbl>
              <c:idx val="3"/>
              <c:layout>
                <c:manualLayout>
                  <c:x val="-0.19253574460630399"/>
                  <c:y val="-1.572373277701860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lang="en-US" sz="80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B082182-73E6-4736-991D-6144CA880610}" type="CATEGORYNAME">
                      <a:rPr lang="en-US" sz="800" b="1" i="0" u="none" strike="noStrike" kern="1200" baseline="0" smtClean="0">
                        <a:solidFill>
                          <a:prstClr val="white"/>
                        </a:solidFill>
                      </a:rPr>
                      <a:pPr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[CATEGORY NAME]</a:t>
                    </a:fld>
                    <a:r>
                      <a:rPr lang="en-US" sz="800" b="1" i="0" u="none" strike="noStrike" kern="1200" baseline="0">
                        <a:solidFill>
                          <a:prstClr val="white"/>
                        </a:solidFill>
                      </a:rPr>
                      <a:t>,</a:t>
                    </a:r>
                    <a:br>
                      <a:rPr lang="en-US" sz="800" b="1" i="0" u="none" strike="noStrike" kern="1200" baseline="0">
                        <a:solidFill>
                          <a:prstClr val="white"/>
                        </a:solidFill>
                      </a:rPr>
                    </a:br>
                    <a:fld id="{C7FDF24A-7956-4456-A971-F928665C1A62}" type="VALUE">
                      <a:rPr lang="en-US" sz="800" b="1" i="0" u="none" strike="noStrike" kern="1200" baseline="0" smtClean="0">
                        <a:solidFill>
                          <a:prstClr val="white"/>
                        </a:solidFill>
                      </a:rPr>
                      <a:pPr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[VALUE]</a:t>
                    </a:fld>
                    <a:r>
                      <a:rPr lang="en-US" sz="800" b="1" i="0" u="none" strike="noStrike" kern="1200" baseline="0">
                        <a:solidFill>
                          <a:prstClr val="white"/>
                        </a:solidFill>
                      </a:rPr>
                      <a:t>, NOC:21</a:t>
                    </a:r>
                  </a:p>
                  <a:p>
                    <a:pPr>
                      <a:defRPr lang="en-US" sz="800">
                        <a:solidFill>
                          <a:prstClr val="white"/>
                        </a:solidFill>
                      </a:defRPr>
                    </a:pPr>
                    <a:r>
                      <a:rPr lang="en-US" sz="800" b="1" i="0" u="none" strike="noStrike" kern="1200" baseline="0">
                        <a:solidFill>
                          <a:prstClr val="white"/>
                        </a:solidFill>
                      </a:rPr>
                      <a:t> </a:t>
                    </a:r>
                    <a:fld id="{0E2044E2-9994-4C07-9F65-B9A92E1E6FE3}" type="PERCENTAGE">
                      <a:rPr lang="en-US" sz="800" b="1" i="0" u="none" strike="noStrike" kern="1200" baseline="0" smtClean="0">
                        <a:solidFill>
                          <a:prstClr val="white"/>
                        </a:solidFill>
                      </a:rPr>
                      <a:pPr>
                        <a:defRPr lang="en-US" sz="800">
                          <a:solidFill>
                            <a:prstClr val="white"/>
                          </a:solidFill>
                        </a:defRPr>
                      </a:pPr>
                      <a:t>[PERCENTAGE]</a:t>
                    </a:fld>
                    <a:endParaRPr lang="en-US" sz="800" b="1" i="0" u="none" strike="noStrike" kern="1200" baseline="0">
                      <a:solidFill>
                        <a:prstClr val="white"/>
                      </a:solidFill>
                    </a:endParaRPr>
                  </a:p>
                </c:rich>
              </c:tx>
              <c:spPr>
                <a:pattFill prst="pct75">
                  <a:fgClr>
                    <a:prstClr val="black">
                      <a:lumMod val="75000"/>
                      <a:lumOff val="25000"/>
                    </a:prstClr>
                  </a:fgClr>
                  <a:bgClr>
                    <a:prstClr val="black">
                      <a:lumMod val="65000"/>
                      <a:lumOff val="35000"/>
                    </a:prst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lang="en-US" sz="80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81380462759578"/>
                      <c:h val="0.1181638518192946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234-4DD4-A0F9-4111C46AAA63}"/>
                </c:ext>
              </c:extLst>
            </c:dLbl>
            <c:spPr>
              <a:pattFill prst="pct75">
                <a:fgClr>
                  <a:prstClr val="black">
                    <a:lumMod val="75000"/>
                    <a:lumOff val="25000"/>
                  </a:prstClr>
                </a:fgClr>
                <a:bgClr>
                  <a:prstClr val="black">
                    <a:lumMod val="65000"/>
                    <a:lumOff val="35000"/>
                  </a:prst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prstClr val="white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Commercial Banking</c:v>
                </c:pt>
                <c:pt idx="1">
                  <c:v>SME &amp; Specialized Financing</c:v>
                </c:pt>
                <c:pt idx="2">
                  <c:v>Corporate Banking</c:v>
                </c:pt>
                <c:pt idx="3">
                  <c:v>Representative Offices</c:v>
                </c:pt>
              </c:strCache>
            </c:strRef>
          </c:cat>
          <c:val>
            <c:numRef>
              <c:f>Sheet1!$B$2:$B$5</c:f>
              <c:numCache>
                <c:formatCode>"RM"#,##0.00,,"M"</c:formatCode>
                <c:ptCount val="4"/>
                <c:pt idx="0">
                  <c:v>494311734.4000001</c:v>
                </c:pt>
                <c:pt idx="1">
                  <c:v>169502434.45000005</c:v>
                </c:pt>
                <c:pt idx="2">
                  <c:v>1802007969.4000006</c:v>
                </c:pt>
                <c:pt idx="3">
                  <c:v>193923520.15000001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234-4DD4-A0F9-4111C46AAA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C6F69-F283-4E82-AC3E-D1ACA1B71990}" type="datetimeFigureOut">
              <a:rPr lang="en-MY" smtClean="0"/>
              <a:t>23/6/2026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34DEC-1587-4828-A5D5-1203E75DB6F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22654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8F5A5-80C0-8940-3CB6-BDF05226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3793B-F86E-1BAC-0545-3CEFBFB2B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8F041-02D3-65A4-A616-52A9629C6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63809-6DCE-3C58-5CDB-E6F5AFB12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77A8D-B68D-45A4-87BC-30895B895C54}" type="slidenum">
              <a:rPr lang="en-MY" smtClean="0"/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40792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34DEC-1587-4828-A5D5-1203E75DB6FC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84367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77A8D-B68D-45A4-87BC-30895B895C54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31237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77A8D-B68D-45A4-87BC-30895B895C54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47110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87189-608E-0B5E-DD30-BBEFA132A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CEE0FB-E5A4-65D3-4A47-AE453FA71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CA964-7A63-D18E-021C-53D82BFAC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9321F-2552-0DCF-CD3F-7959DE6C7D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D485F-029F-4B65-8808-24437A796ED9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2554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41EC9-F574-5184-FCA5-D99DF68E8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790AA-8806-0B6B-0A24-0CF61293A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187B8-B89D-692B-EA58-5921591034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8D897-212D-C706-9889-F164C69E9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D485F-029F-4B65-8808-24437A796ED9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99462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45E1-3D46-A486-90C1-D16D7FFD1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E41C08-D8B6-C2FF-4C90-E39243521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823AC-F6ED-5BCB-4EC8-A027109C9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8E559-FF6C-F0DC-E53A-82FC58A71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D485F-029F-4B65-8808-24437A796ED9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21460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91F32-29B1-5245-9C28-79C12979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35071-692C-1BB8-25CA-F92D72E4B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A2589-ED3B-0CBA-18B6-9AF158665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FAE4B-4679-8DC5-C376-797E32797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D485F-029F-4B65-8808-24437A796ED9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55016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248AF-EA16-FE2A-FB82-397BE95A9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4B622-8EB1-C3B3-AD77-FEDEA3F2A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0CA8A-B5CF-603C-2F22-D3175F7B5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26008-42F0-F178-A4FB-CDB1001A7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D485F-029F-4B65-8808-24437A796ED9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0823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F3F0F-D3C9-491C-1B8F-7C42295DC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EFDE1-B035-FFE2-EF07-65942F243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51FC1-F351-BB30-9D69-BF4C28769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9282-EE0E-ED7F-88BB-4D07295126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D485F-029F-4B65-8808-24437A796ED9}" type="slidenum">
              <a:rPr lang="en-MY" smtClean="0"/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54617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66911-E4AB-340F-CE6E-E11DC317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6EE9D-21CA-01D1-43FB-7CF9C6439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56750-368E-41AD-7722-48E830518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8E733-8636-5850-A450-7E76A6809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D485F-029F-4B65-8808-24437A796ED9}" type="slidenum">
              <a:rPr lang="en-MY" smtClean="0"/>
              <a:t>12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80496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047A3-1379-16E9-7063-D2DC00A70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CCC55-E6C0-1E8A-9E5A-E1522D5F7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FBBCE-35D9-D926-2F32-884D49160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C050E-4A08-0D3C-9AFD-8A2298334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D485F-029F-4B65-8808-24437A796ED9}" type="slidenum">
              <a:rPr lang="en-MY" smtClean="0"/>
              <a:t>13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27014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4D9A8-E03F-17FA-8AEF-D815CF47E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A27E2A-9782-9DD4-EABA-B37B17701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EEF8A-300B-E5B2-767A-942C239AD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D453E-1C97-0FE7-A913-2F95E858B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D485F-029F-4B65-8808-24437A796ED9}" type="slidenum">
              <a:rPr lang="en-MY" smtClean="0"/>
              <a:t>14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7551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9006C-5526-3A24-1EA7-B26FCDB41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CBC52-B760-E38B-43C7-489BAA6F1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EA675-2779-E6A9-686B-A57D807A1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3458D-6AA6-AFDC-2D41-A04C00221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D485F-029F-4B65-8808-24437A796ED9}" type="slidenum">
              <a:rPr lang="en-MY" smtClean="0"/>
              <a:t>15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64976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F77A8D-B68D-45A4-87BC-30895B895C54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MY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76325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77A8D-B68D-45A4-87BC-30895B895C54}" type="slidenum">
              <a:rPr lang="en-MY" smtClean="0"/>
              <a:t>23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61134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35BD7-3289-37A7-193C-D3A697353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DA544-636F-AB0C-C39A-E2D7E5755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1207F-6A8A-9157-2D47-D16AFF985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3258E-0218-40FB-B074-A91141B7FED5}" type="datetimeFigureOut">
              <a:rPr lang="en-MY" smtClean="0"/>
              <a:t>23/6/2026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0A2F0-AB6F-C6AB-9CAF-FD0975FC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0AE04-B30C-84D1-B2DB-86FD8181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C692-1C5F-4F7A-B024-C58D1B6C9A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35385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F53F-C872-64D7-2AE9-9FEEC19FE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AEDB5-2079-B3D9-98D7-CFD77AEA2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6608C-0111-4391-8DDA-5E7838FAA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3258E-0218-40FB-B074-A91141B7FED5}" type="datetimeFigureOut">
              <a:rPr lang="en-MY" smtClean="0"/>
              <a:t>23/6/2026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230CD-2292-8C38-2CB1-97715E293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3221A-B808-4BC4-A32C-4AD01D4BB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C692-1C5F-4F7A-B024-C58D1B6C9A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908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90A56-A362-DE2A-0319-B5C2B52B0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9949B-6D9B-C128-C829-28626370C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0EC8E-24E8-E188-E22C-1F82B1E9E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3258E-0218-40FB-B074-A91141B7FED5}" type="datetimeFigureOut">
              <a:rPr lang="en-MY" smtClean="0"/>
              <a:t>23/6/2026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03CAD-41E9-6BD6-C7F0-1B3E1024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A86E6-7AEF-DFFA-1A13-C278EF850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C692-1C5F-4F7A-B024-C58D1B6C9A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904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B660-D9E6-4570-915A-99B96C160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4094B-42F4-C41F-9264-046C34B17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7B21A-3ED1-D03B-31E4-C21AB9FE7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B428B-54AE-E2A2-8D8F-74857D08A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3258E-0218-40FB-B074-A91141B7FED5}" type="datetimeFigureOut">
              <a:rPr lang="en-MY" smtClean="0"/>
              <a:t>23/6/2026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B8786-FF7B-BA20-38B0-404F0BD27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A2FA6-0C64-792C-D77E-254B0FA65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C692-1C5F-4F7A-B024-C58D1B6C9A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26183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606BC-9B69-7300-9ABB-A2E597504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E5F3F-A46C-BDAA-A82A-C2170EB94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B6A68-8393-2209-9877-545A7D532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90102-6533-A121-9F85-4AF91B1EE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839079-38FE-1500-0CFF-830AA5F59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907E59-F363-4509-B6FE-CEDC1D8B6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3258E-0218-40FB-B074-A91141B7FED5}" type="datetimeFigureOut">
              <a:rPr lang="en-MY" smtClean="0"/>
              <a:t>23/6/2026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F895B6-3264-E01D-1773-3E4B5436D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EACA6-DD6D-C9E6-B94E-AF35274C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C692-1C5F-4F7A-B024-C58D1B6C9A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9617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D12A7-534D-8A80-D720-6236A69E1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F4F4A-89FC-AF96-B070-F6AE09AB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3258E-0218-40FB-B074-A91141B7FED5}" type="datetimeFigureOut">
              <a:rPr lang="en-MY" smtClean="0"/>
              <a:t>23/6/2026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35E60-04BA-8188-63B7-BCCC4454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073944-2E58-153F-9FA8-B1089215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C692-1C5F-4F7A-B024-C58D1B6C9A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930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25227-ECF9-F5BB-E109-56080D2EF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3258E-0218-40FB-B074-A91141B7FED5}" type="datetimeFigureOut">
              <a:rPr lang="en-MY" smtClean="0"/>
              <a:t>23/6/2026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6F8E08-60D9-F126-19FE-D4A29A688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B88D6-FACF-BB03-2A95-5F58C0217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C692-1C5F-4F7A-B024-C58D1B6C9A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8841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DC7C-91A6-AA80-2E5E-6DA38F2E8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66019-498B-7DBE-E2F2-A0E533505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C28C0-A109-D91D-5CE5-202C9868B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6DAE6-C8BA-DC4B-4E75-1935A7E56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3258E-0218-40FB-B074-A91141B7FED5}" type="datetimeFigureOut">
              <a:rPr lang="en-MY" smtClean="0"/>
              <a:t>23/6/2026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13AAE-92AC-DB6A-CBE7-CA60EA8D1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4EE33-255B-AF3E-CEF5-01489103A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C692-1C5F-4F7A-B024-C58D1B6C9A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10199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F52F-544F-C2BE-69F7-0E42CDEDD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FBEC41-54B8-EF0A-2BB0-8400AFC80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3DBA0-A91D-0F4F-F4EC-BF912F2D2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287E05-B02A-D20E-4934-320ED47F9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3258E-0218-40FB-B074-A91141B7FED5}" type="datetimeFigureOut">
              <a:rPr lang="en-MY" smtClean="0"/>
              <a:t>23/6/2026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4AD55-7424-ABA1-2D43-EF78A77A2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5C4BE-FD78-A0C9-BF33-5EC943B85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C692-1C5F-4F7A-B024-C58D1B6C9A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8181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2D4AF-35A6-920B-8B06-9C78A316E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1313B2-6E1B-4BC7-D735-CF578497F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680DA-A7C7-0F04-E30B-80123452A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3258E-0218-40FB-B074-A91141B7FED5}" type="datetimeFigureOut">
              <a:rPr lang="en-MY" smtClean="0"/>
              <a:t>23/6/2026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9D54F-2660-8FA4-4951-90F522388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1ACF6-3E71-65F9-DE83-A32AA532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C692-1C5F-4F7A-B024-C58D1B6C9A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5932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6E10AF-2709-F15E-1E10-35B792F086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79963-6296-2871-9E0D-116411C86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3F472-2E92-E00C-E8F9-0F457B15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3258E-0218-40FB-B074-A91141B7FED5}" type="datetimeFigureOut">
              <a:rPr lang="en-MY" smtClean="0"/>
              <a:t>23/6/2026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6E0D5-BC3F-5CB5-D9DD-AB9A9AC5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9033F-1789-93C3-05C5-256C94776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3C692-1C5F-4F7A-B024-C58D1B6C9A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9605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69F0B6-9A5F-3DF9-3A19-17C62935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ED89D-5A1F-22C3-9CEA-1FEFACFA0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0A2B0-60C3-4D2A-9868-80ED4139A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3258E-0218-40FB-B074-A91141B7FED5}" type="datetimeFigureOut">
              <a:rPr lang="en-MY" smtClean="0"/>
              <a:t>23/6/2026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77B62-C374-6396-48B4-84E888E03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85125-56BC-283A-6529-26F85377E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3C692-1C5F-4F7A-B024-C58D1B6C9A2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2287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78587-D5F6-8301-41A8-5A7192F6E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CC088579-B942-4404-87E3-B696C02DC764}"/>
              </a:ext>
            </a:extLst>
          </p:cNvPr>
          <p:cNvGraphicFramePr>
            <a:graphicFrameLocks/>
          </p:cNvGraphicFramePr>
          <p:nvPr/>
        </p:nvGraphicFramePr>
        <p:xfrm>
          <a:off x="8147495" y="3225003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1AEE0A14-568D-4A1D-9E1B-FA4F736374C2}"/>
              </a:ext>
            </a:extLst>
          </p:cNvPr>
          <p:cNvGraphicFramePr>
            <a:graphicFrameLocks/>
          </p:cNvGraphicFramePr>
          <p:nvPr/>
        </p:nvGraphicFramePr>
        <p:xfrm>
          <a:off x="4629452" y="3225003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45B73F3-2DB9-4882-ADF0-093D47363BC2}"/>
              </a:ext>
            </a:extLst>
          </p:cNvPr>
          <p:cNvGraphicFramePr>
            <a:graphicFrameLocks/>
          </p:cNvGraphicFramePr>
          <p:nvPr/>
        </p:nvGraphicFramePr>
        <p:xfrm>
          <a:off x="1097790" y="3225003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C4987F-1B94-E696-1D89-109EFC892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5628" y="6369587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4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518FBF4-A91A-4291-B5F3-20D0B68D7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81329" y="6440745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We Deliver Impact Capital For National Development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1B47C2-C5A9-4968-622F-C41AB6EB947E}"/>
              </a:ext>
            </a:extLst>
          </p:cNvPr>
          <p:cNvSpPr txBox="1"/>
          <p:nvPr/>
        </p:nvSpPr>
        <p:spPr>
          <a:xfrm>
            <a:off x="1882922" y="48702"/>
            <a:ext cx="8750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01700" algn="l"/>
              </a:tabLst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</a:rPr>
              <a:t>BANKING PERFORMANCE REPORT – FOR THE MONTH OF MAY</a:t>
            </a:r>
            <a:r>
              <a:rPr lang="en-US" b="1">
                <a:solidFill>
                  <a:srgbClr val="002060"/>
                </a:solidFill>
                <a:latin typeface="Arial"/>
                <a:cs typeface="Arial" panose="020B0604020202020204" pitchFamily="34" charset="0"/>
              </a:rPr>
              <a:t> 2026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442822-70A2-D9B9-8EDA-59FC3771E991}"/>
              </a:ext>
            </a:extLst>
          </p:cNvPr>
          <p:cNvSpPr/>
          <p:nvPr/>
        </p:nvSpPr>
        <p:spPr>
          <a:xfrm>
            <a:off x="1550891" y="446983"/>
            <a:ext cx="2302981" cy="44631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Customer</a:t>
            </a:r>
            <a:endParaRPr kumimoji="0" lang="en-MY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08452C-D1C1-B0B0-F3EB-48B6D5C14B42}"/>
              </a:ext>
            </a:extLst>
          </p:cNvPr>
          <p:cNvSpPr/>
          <p:nvPr/>
        </p:nvSpPr>
        <p:spPr>
          <a:xfrm>
            <a:off x="1556809" y="2752206"/>
            <a:ext cx="2388438" cy="43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Portfolio by Category</a:t>
            </a:r>
            <a:endParaRPr kumimoji="0" lang="en-MY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85ECF7-6EF0-3E3B-61AA-EC10B3460880}"/>
              </a:ext>
            </a:extLst>
          </p:cNvPr>
          <p:cNvSpPr/>
          <p:nvPr/>
        </p:nvSpPr>
        <p:spPr>
          <a:xfrm>
            <a:off x="4959670" y="2736273"/>
            <a:ext cx="2597429" cy="43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Portfolio by Nature of Account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B0BEB7-8E8F-187C-8A8B-A38C21BF7EAE}"/>
              </a:ext>
            </a:extLst>
          </p:cNvPr>
          <p:cNvSpPr/>
          <p:nvPr/>
        </p:nvSpPr>
        <p:spPr>
          <a:xfrm>
            <a:off x="8394986" y="2736273"/>
            <a:ext cx="2745018" cy="43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Customer by Residency Status</a:t>
            </a:r>
            <a:endParaRPr kumimoji="0" lang="en-MY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50480D-6B15-310C-460D-2E3D7F569B93}"/>
              </a:ext>
            </a:extLst>
          </p:cNvPr>
          <p:cNvSpPr/>
          <p:nvPr/>
        </p:nvSpPr>
        <p:spPr>
          <a:xfrm>
            <a:off x="1226381" y="933565"/>
            <a:ext cx="2987576" cy="1695600"/>
          </a:xfrm>
          <a:prstGeom prst="rect">
            <a:avLst/>
          </a:prstGeom>
          <a:solidFill>
            <a:srgbClr val="B4C6E7"/>
          </a:soli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138*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Previous       Variance        Trend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            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138                  </a:t>
            </a:r>
            <a:r>
              <a:rPr lang="en-US" sz="1400" kern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0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Average TOS/NOC: RM23.25M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Note: Including Accounts Approved pending disbursement: 13</a:t>
            </a:r>
            <a:endParaRPr lang="en-MY" sz="700" kern="0">
              <a:solidFill>
                <a:prstClr val="black"/>
              </a:solidFill>
              <a:latin typeface="Calibri" panose="020F0502020204030204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         Active/Watchlist = 112</a:t>
            </a:r>
            <a:r>
              <a:rPr lang="en-MY" sz="700" kern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*</a:t>
            </a:r>
            <a:endParaRPr kumimoji="0" lang="en-MY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         Impaired = </a:t>
            </a:r>
            <a:r>
              <a:rPr lang="en-MY" sz="700" kern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13</a:t>
            </a:r>
            <a:endParaRPr kumimoji="0" lang="en-MY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700" kern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*</a:t>
            </a:r>
            <a:r>
              <a:rPr kumimoji="0" lang="en-MY" sz="7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1 Active account managed by ARRD, i.e. </a:t>
            </a:r>
            <a:r>
              <a:rPr kumimoji="0" lang="en-MY" sz="7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Eversendai</a:t>
            </a:r>
            <a:r>
              <a:rPr lang="en-MY" sz="700" kern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.</a:t>
            </a:r>
          </a:p>
          <a:p>
            <a:pPr>
              <a:defRPr/>
            </a:pPr>
            <a:r>
              <a:rPr lang="en-MY" sz="700" kern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(Active account excluding of ECR Customer)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7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53BB7E-AAAD-D203-369C-0EF45CE47BA8}"/>
              </a:ext>
            </a:extLst>
          </p:cNvPr>
          <p:cNvSpPr/>
          <p:nvPr/>
        </p:nvSpPr>
        <p:spPr>
          <a:xfrm>
            <a:off x="8668889" y="418322"/>
            <a:ext cx="2111828" cy="44631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Portfolio Growth</a:t>
            </a:r>
            <a:endParaRPr kumimoji="0" lang="en-MY" sz="16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0BF10E-11E0-129F-CC5B-668D3BE5418F}"/>
              </a:ext>
            </a:extLst>
          </p:cNvPr>
          <p:cNvSpPr/>
          <p:nvPr/>
        </p:nvSpPr>
        <p:spPr>
          <a:xfrm>
            <a:off x="8400404" y="939469"/>
            <a:ext cx="2739600" cy="1695600"/>
          </a:xfrm>
          <a:prstGeom prst="rect">
            <a:avLst/>
          </a:prstGeom>
          <a:solidFill>
            <a:srgbClr val="B4C6E7"/>
          </a:soli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RM</a:t>
            </a:r>
            <a:r>
              <a:rPr lang="en-US" sz="2800" b="1" kern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133.43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M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Previous         Variance        Trend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RM91.58M         41.85                              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Actual 2024: RM131.84M (2.74%)</a:t>
            </a:r>
          </a:p>
          <a:p>
            <a:pPr>
              <a:defRPr/>
            </a:pPr>
            <a:r>
              <a:rPr lang="en-US" sz="1000" b="1" kern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Actual 2025: RM1,570.51M (31.73%)</a:t>
            </a: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7CDB56-14FD-B7FD-22CF-2D3DE5BB0A91}"/>
              </a:ext>
            </a:extLst>
          </p:cNvPr>
          <p:cNvSpPr/>
          <p:nvPr/>
        </p:nvSpPr>
        <p:spPr>
          <a:xfrm>
            <a:off x="5246785" y="413893"/>
            <a:ext cx="2111828" cy="44631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Portfolio</a:t>
            </a:r>
            <a:endParaRPr kumimoji="0" lang="en-MY" sz="16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983C25-4C79-7CE1-C1B8-0DACF835E97D}"/>
              </a:ext>
            </a:extLst>
          </p:cNvPr>
          <p:cNvSpPr/>
          <p:nvPr/>
        </p:nvSpPr>
        <p:spPr>
          <a:xfrm>
            <a:off x="4887048" y="939309"/>
            <a:ext cx="2739600" cy="1695600"/>
          </a:xfrm>
          <a:prstGeom prst="rect">
            <a:avLst/>
          </a:prstGeom>
          <a:solidFill>
            <a:srgbClr val="B4C6E7"/>
          </a:soli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RM3,585.56M</a:t>
            </a:r>
          </a:p>
          <a:p>
            <a:pPr lvl="0"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     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Previous         Variance        Trend </a:t>
            </a: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RM</a:t>
            </a:r>
            <a:r>
              <a:rPr lang="en-US" sz="1400" kern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3,452.13</a:t>
            </a:r>
            <a:r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M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    133.43M      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  <a:p>
            <a:pPr lvl="0"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ECR: RM</a:t>
            </a:r>
            <a:r>
              <a:rPr kumimoji="0" lang="en-MY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376.43</a:t>
            </a: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Actual 2024: 4,949.13M (Audited)</a:t>
            </a:r>
          </a:p>
          <a:p>
            <a:pPr lvl="0"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Actual </a:t>
            </a:r>
            <a:r>
              <a:rPr lang="en-US" sz="1000" b="1" kern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2025: 3,378.61M</a:t>
            </a:r>
          </a:p>
          <a:p>
            <a:pPr lvl="0">
              <a:defRPr/>
            </a:pPr>
            <a:r>
              <a:rPr kumimoji="0" lang="en-US" sz="90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Arial" panose="020B0604020202020204" pitchFamily="34" charset="0"/>
              </a:rPr>
              <a:t>Note: Inclusive write off RM29.37M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0D24C0D-F4A7-E4C6-3C03-88BBC790587A}"/>
              </a:ext>
            </a:extLst>
          </p:cNvPr>
          <p:cNvSpPr/>
          <p:nvPr/>
        </p:nvSpPr>
        <p:spPr>
          <a:xfrm rot="10800000" flipV="1">
            <a:off x="7164820" y="1630857"/>
            <a:ext cx="244146" cy="184873"/>
          </a:xfrm>
          <a:prstGeom prst="triangle">
            <a:avLst>
              <a:gd name="adj" fmla="val 51734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E0D24C0D-F4A7-E4C6-3C03-88BBC790587A}"/>
              </a:ext>
            </a:extLst>
          </p:cNvPr>
          <p:cNvSpPr/>
          <p:nvPr/>
        </p:nvSpPr>
        <p:spPr>
          <a:xfrm rot="10800000" flipV="1">
            <a:off x="10633849" y="1630857"/>
            <a:ext cx="244146" cy="184873"/>
          </a:xfrm>
          <a:prstGeom prst="triangle">
            <a:avLst>
              <a:gd name="adj" fmla="val 51734"/>
            </a:avLst>
          </a:prstGeom>
          <a:solidFill>
            <a:sysClr val="windowText" lastClr="000000"/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1D623D-988A-5D65-32C5-DFF74B9770C0}"/>
              </a:ext>
            </a:extLst>
          </p:cNvPr>
          <p:cNvSpPr txBox="1"/>
          <p:nvPr/>
        </p:nvSpPr>
        <p:spPr>
          <a:xfrm>
            <a:off x="1097791" y="5719910"/>
            <a:ext cx="332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</a:rPr>
              <a:t>Note: 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</a:rPr>
              <a:t>Inclusive of ECR Customer with total of </a:t>
            </a:r>
            <a:r>
              <a:rPr lang="en-MY" sz="800">
                <a:solidFill>
                  <a:srgbClr val="002060"/>
                </a:solidFill>
                <a:latin typeface="Calibri" panose="020F0502020204030204"/>
              </a:rPr>
              <a:t>RM376.43</a:t>
            </a: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</a:rPr>
              <a:t>mil.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</a:rPr>
              <a:t>CSP 2026 achieve 30% SME : Corporate &amp; Commercial : 70%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MY" sz="800">
                <a:solidFill>
                  <a:srgbClr val="002060"/>
                </a:solidFill>
                <a:latin typeface="Calibri" panose="020F0502020204030204"/>
              </a:rPr>
              <a:t>Active </a:t>
            </a: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</a:rPr>
              <a:t>SME: </a:t>
            </a:r>
            <a:r>
              <a:rPr lang="en-MY" sz="800">
                <a:solidFill>
                  <a:srgbClr val="002060"/>
                </a:solidFill>
                <a:latin typeface="Calibri" panose="020F0502020204030204"/>
              </a:rPr>
              <a:t>55</a:t>
            </a: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</a:rPr>
              <a:t> NOC (353,46 mil), Pending disbursement: 8 NOC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MY" sz="800">
                <a:solidFill>
                  <a:srgbClr val="002060"/>
                </a:solidFill>
                <a:latin typeface="Calibri" panose="020F0502020204030204"/>
              </a:rPr>
              <a:t>Active Non-SME: 57 NOC (2,578.15 mil), Pending disbursement: 5 NOC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MY" sz="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1331B19F-81C0-7123-8641-13AF58ADC382}"/>
              </a:ext>
            </a:extLst>
          </p:cNvPr>
          <p:cNvSpPr txBox="1"/>
          <p:nvPr/>
        </p:nvSpPr>
        <p:spPr>
          <a:xfrm>
            <a:off x="4738729" y="5834849"/>
            <a:ext cx="37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</a:rPr>
              <a:t>Note: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</a:rPr>
              <a:t>CSP 2026 to achieve 70% Non-Trade : 30% Trade.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</a:rPr>
              <a:t>Trade is inclusive of ECR </a:t>
            </a:r>
            <a:r>
              <a:rPr lang="en-MY">
                <a:solidFill>
                  <a:srgbClr val="002060"/>
                </a:solidFill>
                <a:latin typeface="Calibri" panose="020F0502020204030204"/>
              </a:rPr>
              <a:t>RM376.43mil.</a:t>
            </a:r>
          </a:p>
        </p:txBody>
      </p:sp>
      <p:sp>
        <p:nvSpPr>
          <p:cNvPr id="31" name="TextBox 48">
            <a:extLst>
              <a:ext uri="{FF2B5EF4-FFF2-40B4-BE49-F238E27FC236}">
                <a16:creationId xmlns:a16="http://schemas.microsoft.com/office/drawing/2014/main" id="{0C59767D-94C0-72CD-0C54-F01CF5B0D807}"/>
              </a:ext>
            </a:extLst>
          </p:cNvPr>
          <p:cNvSpPr txBox="1"/>
          <p:nvPr/>
        </p:nvSpPr>
        <p:spPr>
          <a:xfrm>
            <a:off x="8216432" y="5765417"/>
            <a:ext cx="3252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</a:rPr>
              <a:t>Note: 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</a:rPr>
              <a:t>Exclude ECR Customer with total of </a:t>
            </a:r>
            <a:r>
              <a:rPr lang="en-MY" sz="800">
                <a:solidFill>
                  <a:srgbClr val="002060"/>
                </a:solidFill>
                <a:latin typeface="Calibri" panose="020F0502020204030204"/>
              </a:rPr>
              <a:t>RM376.43mil. 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</a:rPr>
              <a:t>Resident consists of Bumiputera Controlled – RM722.46 mil (29.6%), Non-Bumiputera Controlled – RM 1,336.35 mil (54.8%) &amp; Non-Resident Controlled – RM378.22 mil (15.5%)</a:t>
            </a:r>
          </a:p>
        </p:txBody>
      </p:sp>
      <p:sp>
        <p:nvSpPr>
          <p:cNvPr id="8" name="Equals 7">
            <a:extLst>
              <a:ext uri="{FF2B5EF4-FFF2-40B4-BE49-F238E27FC236}">
                <a16:creationId xmlns:a16="http://schemas.microsoft.com/office/drawing/2014/main" id="{DFFAE5DF-3E91-DD40-3FD8-9145E0B8DDE3}"/>
              </a:ext>
            </a:extLst>
          </p:cNvPr>
          <p:cNvSpPr/>
          <p:nvPr/>
        </p:nvSpPr>
        <p:spPr>
          <a:xfrm>
            <a:off x="3520440" y="1651255"/>
            <a:ext cx="243840" cy="258903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74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1CCA4-E611-64B8-B19F-0C4019BDB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2D19B07-D01A-446C-A070-845E9354049E}"/>
              </a:ext>
            </a:extLst>
          </p:cNvPr>
          <p:cNvGraphicFramePr>
            <a:graphicFrameLocks/>
          </p:cNvGraphicFramePr>
          <p:nvPr/>
        </p:nvGraphicFramePr>
        <p:xfrm>
          <a:off x="7394439" y="1506696"/>
          <a:ext cx="432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83A5E5-0C4A-4F8A-B55C-99DF1603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81329" y="6032329"/>
            <a:ext cx="8697455" cy="69510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5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EA24A4F2-1A5F-DDBF-246F-96CED2171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81329" y="6440745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We Deliver Impact Capital For National Development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63583E-99AD-45C8-1611-DA71BA7ACBB5}"/>
              </a:ext>
            </a:extLst>
          </p:cNvPr>
          <p:cNvSpPr txBox="1"/>
          <p:nvPr/>
        </p:nvSpPr>
        <p:spPr>
          <a:xfrm>
            <a:off x="2126623" y="76314"/>
            <a:ext cx="8750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>
                <a:solidFill>
                  <a:srgbClr val="002060"/>
                </a:solidFill>
                <a:cs typeface="Arial" panose="020B0604020202020204" pitchFamily="34" charset="0"/>
              </a:rPr>
              <a:t>BANKING PERFORMANCE REPORT – FOR THE MONTH OF MAY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00FE3A-154E-B257-5569-C466DAA37E7E}"/>
              </a:ext>
            </a:extLst>
          </p:cNvPr>
          <p:cNvSpPr/>
          <p:nvPr/>
        </p:nvSpPr>
        <p:spPr>
          <a:xfrm>
            <a:off x="2058074" y="825671"/>
            <a:ext cx="2987577" cy="42623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1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Portfolio by BNM Sectors</a:t>
            </a:r>
            <a:endParaRPr kumimoji="0" lang="en-MY" sz="16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0B0BF-41FB-FC1D-C3F7-DB58DE9D191B}"/>
              </a:ext>
            </a:extLst>
          </p:cNvPr>
          <p:cNvSpPr/>
          <p:nvPr/>
        </p:nvSpPr>
        <p:spPr>
          <a:xfrm>
            <a:off x="7949005" y="825671"/>
            <a:ext cx="2987577" cy="42623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1" b="1" kern="0">
                <a:solidFill>
                  <a:srgbClr val="002060"/>
                </a:solidFill>
                <a:latin typeface="Calibri" panose="020F0502020204030204"/>
              </a:rPr>
              <a:t>Portfolio</a:t>
            </a:r>
            <a:r>
              <a:rPr kumimoji="0" lang="en-US" sz="1401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</a:rPr>
              <a:t> by Currencies</a:t>
            </a:r>
            <a:endParaRPr kumimoji="0" lang="en-MY" sz="16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A164AF8-1279-4F7F-92D8-C19D3A7F3702}"/>
              </a:ext>
            </a:extLst>
          </p:cNvPr>
          <p:cNvGraphicFramePr>
            <a:graphicFrameLocks/>
          </p:cNvGraphicFramePr>
          <p:nvPr/>
        </p:nvGraphicFramePr>
        <p:xfrm>
          <a:off x="477561" y="1506696"/>
          <a:ext cx="666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0167150-783C-E2AA-2943-E9C25644C337}"/>
              </a:ext>
            </a:extLst>
          </p:cNvPr>
          <p:cNvSpPr txBox="1"/>
          <p:nvPr/>
        </p:nvSpPr>
        <p:spPr>
          <a:xfrm>
            <a:off x="7676478" y="5270557"/>
            <a:ext cx="3755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</a:rPr>
              <a:t>Note: 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MY" sz="8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Included Stage 1 and Stage 2 values.</a:t>
            </a:r>
          </a:p>
          <a:p>
            <a:pPr marL="171450" indent="-171450" algn="just">
              <a:buFont typeface="Arial" panose="020B0604020202020204" pitchFamily="34" charset="0"/>
              <a:buChar char="•"/>
              <a:defRPr/>
            </a:pPr>
            <a:r>
              <a:rPr lang="en-MY" sz="800">
                <a:solidFill>
                  <a:srgbClr val="002060"/>
                </a:solidFill>
                <a:latin typeface="Calibri" panose="020F0502020204030204"/>
              </a:rPr>
              <a:t>Inclusive of ECR Customer with total of RM376.43mil.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3FA6F8-4F60-97E3-669D-DBB80F2D3F2E}"/>
              </a:ext>
            </a:extLst>
          </p:cNvPr>
          <p:cNvSpPr txBox="1"/>
          <p:nvPr/>
        </p:nvSpPr>
        <p:spPr>
          <a:xfrm>
            <a:off x="1041640" y="5147447"/>
            <a:ext cx="5105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</a:rPr>
              <a:t>Note: 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Exclusive of impaired accounts and ECR.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Others are mainly Real Estate Activities; </a:t>
            </a:r>
            <a:r>
              <a:rPr lang="en-MY" sz="8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Wholesale and Retail Trade ; </a:t>
            </a: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Accommodation &amp; Food Service Activities; Information &amp; Communication; Mining and Quarrying; </a:t>
            </a:r>
            <a:r>
              <a:rPr lang="en-MY" sz="8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</a:t>
            </a:r>
            <a:endParaRPr kumimoji="0" lang="en-MY" sz="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496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500DD8-C2C8-C981-7696-521A5A26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B03F6D-99AB-4E4D-AF85-B08CB022F75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1D40EA0D-BF7A-A7DF-4F2D-06B69824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81329" y="6440745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We Deliver Impact Capital For National Development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64B5BE-246A-1068-EC0E-DC7ACB4A70C9}"/>
              </a:ext>
            </a:extLst>
          </p:cNvPr>
          <p:cNvGraphicFramePr>
            <a:graphicFrameLocks noGrp="1"/>
          </p:cNvGraphicFramePr>
          <p:nvPr/>
        </p:nvGraphicFramePr>
        <p:xfrm>
          <a:off x="280086" y="1064435"/>
          <a:ext cx="5634682" cy="2660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5860">
                  <a:extLst>
                    <a:ext uri="{9D8B030D-6E8A-4147-A177-3AD203B41FA5}">
                      <a16:colId xmlns:a16="http://schemas.microsoft.com/office/drawing/2014/main" val="2727325423"/>
                    </a:ext>
                  </a:extLst>
                </a:gridCol>
                <a:gridCol w="1288168">
                  <a:extLst>
                    <a:ext uri="{9D8B030D-6E8A-4147-A177-3AD203B41FA5}">
                      <a16:colId xmlns:a16="http://schemas.microsoft.com/office/drawing/2014/main" val="1167838923"/>
                    </a:ext>
                  </a:extLst>
                </a:gridCol>
                <a:gridCol w="1073473">
                  <a:extLst>
                    <a:ext uri="{9D8B030D-6E8A-4147-A177-3AD203B41FA5}">
                      <a16:colId xmlns:a16="http://schemas.microsoft.com/office/drawing/2014/main" val="2434795174"/>
                    </a:ext>
                  </a:extLst>
                </a:gridCol>
                <a:gridCol w="947181">
                  <a:extLst>
                    <a:ext uri="{9D8B030D-6E8A-4147-A177-3AD203B41FA5}">
                      <a16:colId xmlns:a16="http://schemas.microsoft.com/office/drawing/2014/main" val="1681146135"/>
                    </a:ext>
                  </a:extLst>
                </a:gridCol>
              </a:tblGrid>
              <a:tr h="344468">
                <a:tc>
                  <a:txBody>
                    <a:bodyPr/>
                    <a:lstStyle/>
                    <a:p>
                      <a:pPr algn="ctr"/>
                      <a:r>
                        <a:rPr lang="en-MY" sz="11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Principal Outstanding (RM)</a:t>
                      </a:r>
                      <a:endParaRPr lang="en-MY" sz="11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Facility Limit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(RM)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Utilization Rate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29968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UB Acrylic (M) Sdn Bhd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2,000,000.00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2,000,000.00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256134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Zaid Ibrahim &amp; Co.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7,991,000.00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8,000,000.00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b="0" i="0" u="none" strike="noStrike" kern="1200" noProof="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951888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Whitex Garments Sdn Bhd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67,406,778.43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67,507,000.00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b="0" i="0" u="none" strike="noStrike" kern="1200" noProof="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941958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Pusan Furniture Industries Sdn Bhd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4,992,134.14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5,000,000.00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b="0" i="0" u="none" strike="noStrike" kern="1200" noProof="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815507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Impact Metal Resources Sdn. Bhd.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9,973,399.21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10,000,000.00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b="0" i="0" u="none" strike="noStrike" kern="1200" noProof="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674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B1EB31-8A10-242A-F4F9-ED7949CB478B}"/>
              </a:ext>
            </a:extLst>
          </p:cNvPr>
          <p:cNvSpPr txBox="1"/>
          <p:nvPr/>
        </p:nvSpPr>
        <p:spPr>
          <a:xfrm>
            <a:off x="2013040" y="136521"/>
            <a:ext cx="816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TRADE UTILIZATION AS AT 30 APRIL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E48D2A-5D4A-2259-5DD4-4870E0F6EF5C}"/>
              </a:ext>
            </a:extLst>
          </p:cNvPr>
          <p:cNvSpPr txBox="1"/>
          <p:nvPr/>
        </p:nvSpPr>
        <p:spPr>
          <a:xfrm>
            <a:off x="280086" y="633228"/>
            <a:ext cx="5634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TOP 5 TRADE UTILIZATION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1065581-ACAB-AFFF-D609-FE64D5A1F27F}"/>
              </a:ext>
            </a:extLst>
          </p:cNvPr>
          <p:cNvGraphicFramePr>
            <a:graphicFrameLocks noGrp="1"/>
          </p:cNvGraphicFramePr>
          <p:nvPr/>
        </p:nvGraphicFramePr>
        <p:xfrm>
          <a:off x="6095999" y="1064435"/>
          <a:ext cx="5813857" cy="2616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117">
                  <a:extLst>
                    <a:ext uri="{9D8B030D-6E8A-4147-A177-3AD203B41FA5}">
                      <a16:colId xmlns:a16="http://schemas.microsoft.com/office/drawing/2014/main" val="2727325423"/>
                    </a:ext>
                  </a:extLst>
                </a:gridCol>
                <a:gridCol w="1269803">
                  <a:extLst>
                    <a:ext uri="{9D8B030D-6E8A-4147-A177-3AD203B41FA5}">
                      <a16:colId xmlns:a16="http://schemas.microsoft.com/office/drawing/2014/main" val="1167838923"/>
                    </a:ext>
                  </a:extLst>
                </a:gridCol>
                <a:gridCol w="1120639">
                  <a:extLst>
                    <a:ext uri="{9D8B030D-6E8A-4147-A177-3AD203B41FA5}">
                      <a16:colId xmlns:a16="http://schemas.microsoft.com/office/drawing/2014/main" val="2434795174"/>
                    </a:ext>
                  </a:extLst>
                </a:gridCol>
                <a:gridCol w="977298">
                  <a:extLst>
                    <a:ext uri="{9D8B030D-6E8A-4147-A177-3AD203B41FA5}">
                      <a16:colId xmlns:a16="http://schemas.microsoft.com/office/drawing/2014/main" val="1681146135"/>
                    </a:ext>
                  </a:extLst>
                </a:gridCol>
              </a:tblGrid>
              <a:tr h="633121">
                <a:tc>
                  <a:txBody>
                    <a:bodyPr/>
                    <a:lstStyle/>
                    <a:p>
                      <a:pPr algn="ctr"/>
                      <a:r>
                        <a:rPr lang="en-MY" sz="11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Principal Outstanding (RM)</a:t>
                      </a:r>
                      <a:endParaRPr lang="en-MY" sz="11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Facility Limit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(RM)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Utilization Rate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29968"/>
                  </a:ext>
                </a:extLst>
              </a:tr>
              <a:tr h="4545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Perusahaan Otomobil Nasional Sdn. Bhd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10,000,000.00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01766"/>
                  </a:ext>
                </a:extLst>
              </a:tr>
              <a:tr h="4302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Pipesway Furniture Sdn Bhd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3,000,000.00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792528"/>
                  </a:ext>
                </a:extLst>
              </a:tr>
              <a:tr h="4302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Purebleach Sdn Bhd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1,500,000.00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624255"/>
                  </a:ext>
                </a:extLst>
              </a:tr>
              <a:tr h="3555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Radysis Asia Sdn. Bhd.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5,000,000.00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681486"/>
                  </a:ext>
                </a:extLst>
              </a:tr>
              <a:tr h="3125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Sunnite Timur Sdn Bhd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7,000,000.00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0482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8FACC7-0C2D-E2AE-FCC3-47CD3ECFF981}"/>
              </a:ext>
            </a:extLst>
          </p:cNvPr>
          <p:cNvSpPr txBox="1"/>
          <p:nvPr/>
        </p:nvSpPr>
        <p:spPr>
          <a:xfrm>
            <a:off x="5914768" y="633228"/>
            <a:ext cx="5634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 BOTTOM TRADE UTILIZATION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E4D2B00-C01E-61BB-86E5-047A99B7B07E}"/>
              </a:ext>
            </a:extLst>
          </p:cNvPr>
          <p:cNvGraphicFramePr>
            <a:graphicFrameLocks noGrp="1"/>
          </p:cNvGraphicFramePr>
          <p:nvPr/>
        </p:nvGraphicFramePr>
        <p:xfrm>
          <a:off x="2784726" y="3946758"/>
          <a:ext cx="6622544" cy="15598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712">
                  <a:extLst>
                    <a:ext uri="{9D8B030D-6E8A-4147-A177-3AD203B41FA5}">
                      <a16:colId xmlns:a16="http://schemas.microsoft.com/office/drawing/2014/main" val="2649039158"/>
                    </a:ext>
                  </a:extLst>
                </a:gridCol>
                <a:gridCol w="1118458">
                  <a:extLst>
                    <a:ext uri="{9D8B030D-6E8A-4147-A177-3AD203B41FA5}">
                      <a16:colId xmlns:a16="http://schemas.microsoft.com/office/drawing/2014/main" val="2033184544"/>
                    </a:ext>
                  </a:extLst>
                </a:gridCol>
                <a:gridCol w="1118458">
                  <a:extLst>
                    <a:ext uri="{9D8B030D-6E8A-4147-A177-3AD203B41FA5}">
                      <a16:colId xmlns:a16="http://schemas.microsoft.com/office/drawing/2014/main" val="3664727516"/>
                    </a:ext>
                  </a:extLst>
                </a:gridCol>
                <a:gridCol w="1118458">
                  <a:extLst>
                    <a:ext uri="{9D8B030D-6E8A-4147-A177-3AD203B41FA5}">
                      <a16:colId xmlns:a16="http://schemas.microsoft.com/office/drawing/2014/main" val="1864343888"/>
                    </a:ext>
                  </a:extLst>
                </a:gridCol>
                <a:gridCol w="1118458">
                  <a:extLst>
                    <a:ext uri="{9D8B030D-6E8A-4147-A177-3AD203B41FA5}">
                      <a16:colId xmlns:a16="http://schemas.microsoft.com/office/drawing/2014/main" val="1888769495"/>
                    </a:ext>
                  </a:extLst>
                </a:gridCol>
              </a:tblGrid>
              <a:tr h="413153">
                <a:tc>
                  <a:txBody>
                    <a:bodyPr/>
                    <a:lstStyle/>
                    <a:p>
                      <a:pPr algn="ctr"/>
                      <a:r>
                        <a:rPr lang="en-MY" sz="11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January (RM)</a:t>
                      </a:r>
                      <a:endParaRPr lang="en-MY" sz="11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February (RM)</a:t>
                      </a:r>
                      <a:endParaRPr lang="en-MY" sz="11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March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(RM)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April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(RM)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148069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 algn="ctr" fontAlgn="b"/>
                      <a:r>
                        <a:rPr lang="en-MY" sz="11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Disbursement for Trade Facility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365,888,700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263,939,884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331,063,365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242,356,745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82441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fontAlgn="b"/>
                      <a:r>
                        <a:rPr lang="en-MY" sz="1100" b="1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of Utilization Rate (%)</a:t>
                      </a:r>
                    </a:p>
                    <a:p>
                      <a:pPr algn="ctr" fontAlgn="b"/>
                      <a:r>
                        <a:rPr lang="en-MY" sz="1100" b="0" i="1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*Principal Outstanding against Facility Limit of Active/Watchlist Customers</a:t>
                      </a: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26579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9464615-8121-E2BD-8F11-3019B8D813B5}"/>
              </a:ext>
            </a:extLst>
          </p:cNvPr>
          <p:cNvSpPr txBox="1"/>
          <p:nvPr/>
        </p:nvSpPr>
        <p:spPr>
          <a:xfrm>
            <a:off x="2013040" y="5746188"/>
            <a:ext cx="19485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*Exclusive of ECR</a:t>
            </a: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023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EF3EE-6AB9-B5C2-6714-264122CD4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E31DAC45-FC71-45C0-8C92-D6EB8BAF4C4E}"/>
              </a:ext>
            </a:extLst>
          </p:cNvPr>
          <p:cNvGraphicFramePr>
            <a:graphicFrameLocks/>
          </p:cNvGraphicFramePr>
          <p:nvPr/>
        </p:nvGraphicFramePr>
        <p:xfrm>
          <a:off x="231669" y="1116735"/>
          <a:ext cx="6537600" cy="374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8A11A3-F7B0-4F5C-83DB-642526D2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11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33D80C0B-B4C4-24A3-B4A5-2403954D7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81329" y="6440745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96F427-5872-D164-6C1A-8DA62EB3786A}"/>
              </a:ext>
            </a:extLst>
          </p:cNvPr>
          <p:cNvSpPr/>
          <p:nvPr/>
        </p:nvSpPr>
        <p:spPr>
          <a:xfrm>
            <a:off x="2007248" y="567882"/>
            <a:ext cx="2987577" cy="36933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Portfolio by Stage</a:t>
            </a:r>
            <a:endParaRPr kumimoji="0" lang="en-MY" sz="14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12253B-C524-0467-B0E1-FA5B852DA759}"/>
              </a:ext>
            </a:extLst>
          </p:cNvPr>
          <p:cNvSpPr txBox="1"/>
          <p:nvPr/>
        </p:nvSpPr>
        <p:spPr>
          <a:xfrm>
            <a:off x="1720536" y="130568"/>
            <a:ext cx="8750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ASSET QUALITY– FOR THE MONTH OF MAY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D17D6-C1B4-BC39-4DDC-055ECCAB1980}"/>
              </a:ext>
            </a:extLst>
          </p:cNvPr>
          <p:cNvSpPr txBox="1"/>
          <p:nvPr/>
        </p:nvSpPr>
        <p:spPr>
          <a:xfrm>
            <a:off x="868325" y="5114002"/>
            <a:ext cx="4126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Note: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MY" sz="1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Inclusive ECR Customer with total of </a:t>
            </a:r>
            <a:r>
              <a:rPr lang="en-MY" sz="1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RM376.43mil..</a:t>
            </a:r>
            <a:endParaRPr kumimoji="0" lang="en-MY" sz="1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B45868D-472F-49D1-FAE7-7355FCD175A6}"/>
              </a:ext>
            </a:extLst>
          </p:cNvPr>
          <p:cNvGraphicFramePr>
            <a:graphicFrameLocks noGrp="1"/>
          </p:cNvGraphicFramePr>
          <p:nvPr/>
        </p:nvGraphicFramePr>
        <p:xfrm>
          <a:off x="7159685" y="4573764"/>
          <a:ext cx="2865691" cy="1590088"/>
        </p:xfrm>
        <a:graphic>
          <a:graphicData uri="http://schemas.openxmlformats.org/drawingml/2006/table">
            <a:tbl>
              <a:tblPr/>
              <a:tblGrid>
                <a:gridCol w="1049253">
                  <a:extLst>
                    <a:ext uri="{9D8B030D-6E8A-4147-A177-3AD203B41FA5}">
                      <a16:colId xmlns:a16="http://schemas.microsoft.com/office/drawing/2014/main" val="1461683620"/>
                    </a:ext>
                  </a:extLst>
                </a:gridCol>
                <a:gridCol w="908219">
                  <a:extLst>
                    <a:ext uri="{9D8B030D-6E8A-4147-A177-3AD203B41FA5}">
                      <a16:colId xmlns:a16="http://schemas.microsoft.com/office/drawing/2014/main" val="1014574930"/>
                    </a:ext>
                  </a:extLst>
                </a:gridCol>
                <a:gridCol w="908219">
                  <a:extLst>
                    <a:ext uri="{9D8B030D-6E8A-4147-A177-3AD203B41FA5}">
                      <a16:colId xmlns:a16="http://schemas.microsoft.com/office/drawing/2014/main" val="2977388988"/>
                    </a:ext>
                  </a:extLst>
                </a:gridCol>
              </a:tblGrid>
              <a:tr h="20346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MY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Portfolio 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0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B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358825"/>
                  </a:ext>
                </a:extLst>
              </a:tr>
              <a:tr h="2084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MY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3C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100" b="1" i="0" u="none" strike="noStrike" kern="120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% May</a:t>
                      </a:r>
                      <a:endParaRPr lang="en-MY" sz="11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3C7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b"/>
                      <a:r>
                        <a:rPr lang="en-MY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3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416416"/>
                  </a:ext>
                </a:extLst>
              </a:tr>
              <a:tr h="280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b" latinLnBrk="0" hangingPunct="1">
                        <a:lnSpc>
                          <a:spcPct val="100000"/>
                        </a:lnSpc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Stage 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88.15%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lnSpc>
                          <a:spcPct val="100000"/>
                        </a:lnSpc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48799"/>
                  </a:ext>
                </a:extLst>
              </a:tr>
              <a:tr h="3191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b" latinLnBrk="0" hangingPunct="1">
                        <a:lnSpc>
                          <a:spcPct val="100000"/>
                        </a:lnSpc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Stage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4.11%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b" latinLnBrk="0" hangingPunct="1">
                        <a:lnSpc>
                          <a:spcPct val="100000"/>
                        </a:lnSpc>
                      </a:pPr>
                      <a:r>
                        <a:rPr lang="en-US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MY" sz="1100" b="0" i="0" u="none" strike="noStrike" kern="12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012781"/>
                  </a:ext>
                </a:extLst>
              </a:tr>
              <a:tr h="3191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b" latinLnBrk="0" hangingPunct="1">
                        <a:lnSpc>
                          <a:spcPct val="100000"/>
                        </a:lnSpc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Stage 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7.74%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b" latinLnBrk="0" hangingPunct="1">
                        <a:lnSpc>
                          <a:spcPct val="100000"/>
                        </a:lnSpc>
                      </a:pPr>
                      <a:r>
                        <a:rPr lang="en-US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100" b="0" i="0" u="none" strike="noStrike" kern="12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492266"/>
                  </a:ext>
                </a:extLst>
              </a:tr>
              <a:tr h="2510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MY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Grand 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558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MY" sz="1100" b="1" i="0" u="none" strike="noStrike" kern="12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558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ctr" defTabSz="914400" rtl="0" eaLnBrk="1" fontAlgn="b" latinLnBrk="0" hangingPunct="1"/>
                      <a:r>
                        <a:rPr lang="en-MY" sz="1100" b="1" i="0" u="none" strike="noStrike" kern="12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92103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D74F43B-1565-334E-518A-DD183657571E}"/>
              </a:ext>
            </a:extLst>
          </p:cNvPr>
          <p:cNvSpPr txBox="1"/>
          <p:nvPr/>
        </p:nvSpPr>
        <p:spPr>
          <a:xfrm>
            <a:off x="10115339" y="5613571"/>
            <a:ext cx="160662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ker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1: Active</a:t>
            </a:r>
          </a:p>
          <a:p>
            <a:r>
              <a:rPr lang="en-US" sz="1100" b="1" ker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2: Watchlist</a:t>
            </a:r>
          </a:p>
          <a:p>
            <a:r>
              <a:rPr lang="en-US" sz="1100" b="1" ker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3: Impaired</a:t>
            </a:r>
            <a:endParaRPr lang="en-MY" sz="1100" b="1" ker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83FFC5-3AE3-A0A1-71D8-272BCEC6685F}"/>
              </a:ext>
            </a:extLst>
          </p:cNvPr>
          <p:cNvSpPr txBox="1"/>
          <p:nvPr/>
        </p:nvSpPr>
        <p:spPr>
          <a:xfrm>
            <a:off x="1549723" y="1668422"/>
            <a:ext cx="649038" cy="21544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MY" sz="800">
                <a:latin typeface="Arial" panose="020B0604020202020204" pitchFamily="34" charset="0"/>
                <a:cs typeface="Arial" panose="020B0604020202020204" pitchFamily="34" charset="0"/>
              </a:rPr>
              <a:t>Stage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103DB3-53A4-47B2-410F-FA24CE59C541}"/>
              </a:ext>
            </a:extLst>
          </p:cNvPr>
          <p:cNvSpPr txBox="1"/>
          <p:nvPr/>
        </p:nvSpPr>
        <p:spPr>
          <a:xfrm>
            <a:off x="3239620" y="2209490"/>
            <a:ext cx="594961" cy="215444"/>
          </a:xfrm>
          <a:prstGeom prst="rect">
            <a:avLst/>
          </a:prstGeom>
          <a:solidFill>
            <a:srgbClr val="F2AAA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MY" sz="800">
                <a:latin typeface="Arial" panose="020B0604020202020204" pitchFamily="34" charset="0"/>
                <a:cs typeface="Arial" panose="020B0604020202020204" pitchFamily="34" charset="0"/>
              </a:rPr>
              <a:t>Stage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A69C51-E99A-9EDA-8327-C39884790AE8}"/>
              </a:ext>
            </a:extLst>
          </p:cNvPr>
          <p:cNvSpPr txBox="1"/>
          <p:nvPr/>
        </p:nvSpPr>
        <p:spPr>
          <a:xfrm>
            <a:off x="2221981" y="3705999"/>
            <a:ext cx="649038" cy="2154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MY" sz="800">
                <a:latin typeface="Arial" panose="020B0604020202020204" pitchFamily="34" charset="0"/>
                <a:cs typeface="Arial" panose="020B0604020202020204" pitchFamily="34" charset="0"/>
              </a:rPr>
              <a:t>Stage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DB6AD5-1018-4AAF-A582-44E0310B7FFA}"/>
              </a:ext>
            </a:extLst>
          </p:cNvPr>
          <p:cNvSpPr txBox="1"/>
          <p:nvPr/>
        </p:nvSpPr>
        <p:spPr>
          <a:xfrm>
            <a:off x="4429022" y="2954499"/>
            <a:ext cx="1207601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MY" sz="800">
                <a:latin typeface="Arial" panose="020B0604020202020204" pitchFamily="34" charset="0"/>
                <a:cs typeface="Arial" panose="020B0604020202020204" pitchFamily="34" charset="0"/>
              </a:rPr>
              <a:t>Write-off of RM1.45b as at 31/12/2025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9CE546A7-782F-C45D-E1FF-3FC3827CFF32}"/>
              </a:ext>
            </a:extLst>
          </p:cNvPr>
          <p:cNvSpPr txBox="1"/>
          <p:nvPr/>
        </p:nvSpPr>
        <p:spPr>
          <a:xfrm>
            <a:off x="2796081" y="1224366"/>
            <a:ext cx="535724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MY" sz="800" b="1">
                <a:latin typeface="Arial" panose="020B0604020202020204" pitchFamily="34" charset="0"/>
                <a:cs typeface="Arial" panose="020B0604020202020204" pitchFamily="34" charset="0"/>
              </a:rPr>
              <a:t>57.30%</a:t>
            </a:r>
          </a:p>
          <a:p>
            <a:r>
              <a:rPr lang="en-MY" sz="800" b="1">
                <a:latin typeface="Arial" panose="020B0604020202020204" pitchFamily="34" charset="0"/>
                <a:cs typeface="Arial" panose="020B0604020202020204" pitchFamily="34" charset="0"/>
              </a:rPr>
              <a:t>Jul-25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6899C430-F922-482F-8F0F-C039FAF6F9B3}"/>
              </a:ext>
            </a:extLst>
          </p:cNvPr>
          <p:cNvSpPr txBox="1"/>
          <p:nvPr/>
        </p:nvSpPr>
        <p:spPr>
          <a:xfrm>
            <a:off x="5880976" y="1329868"/>
            <a:ext cx="53572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MY" sz="800">
                <a:latin typeface="Arial" panose="020B0604020202020204" pitchFamily="34" charset="0"/>
                <a:cs typeface="Arial" panose="020B0604020202020204" pitchFamily="34" charset="0"/>
              </a:rPr>
              <a:t>88.15%</a:t>
            </a:r>
          </a:p>
          <a:p>
            <a:r>
              <a:rPr lang="en-MY" sz="800">
                <a:latin typeface="Arial" panose="020B0604020202020204" pitchFamily="34" charset="0"/>
                <a:cs typeface="Arial" panose="020B0604020202020204" pitchFamily="34" charset="0"/>
              </a:rPr>
              <a:t>May-26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CD3EF93C-B5DA-4131-9E3F-A020CF6378D7}"/>
              </a:ext>
            </a:extLst>
          </p:cNvPr>
          <p:cNvSpPr txBox="1"/>
          <p:nvPr/>
        </p:nvSpPr>
        <p:spPr>
          <a:xfrm>
            <a:off x="5848976" y="4121407"/>
            <a:ext cx="527709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MY" sz="800">
                <a:latin typeface="Arial" panose="020B0604020202020204" pitchFamily="34" charset="0"/>
                <a:cs typeface="Arial" panose="020B0604020202020204" pitchFamily="34" charset="0"/>
              </a:rPr>
              <a:t>4.11%</a:t>
            </a:r>
          </a:p>
          <a:p>
            <a:r>
              <a:rPr lang="en-MY" sz="800">
                <a:latin typeface="Arial" panose="020B0604020202020204" pitchFamily="34" charset="0"/>
                <a:cs typeface="Arial" panose="020B0604020202020204" pitchFamily="34" charset="0"/>
              </a:rPr>
              <a:t>May-26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147E7C3A-F734-46E6-9AAA-CEA2E880EAE4}"/>
              </a:ext>
            </a:extLst>
          </p:cNvPr>
          <p:cNvSpPr txBox="1"/>
          <p:nvPr/>
        </p:nvSpPr>
        <p:spPr>
          <a:xfrm>
            <a:off x="5848976" y="3693093"/>
            <a:ext cx="527709" cy="338554"/>
          </a:xfrm>
          <a:prstGeom prst="rect">
            <a:avLst/>
          </a:prstGeom>
          <a:solidFill>
            <a:srgbClr val="F2AAA2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non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MY" sz="800">
                <a:latin typeface="Arial" panose="020B0604020202020204" pitchFamily="34" charset="0"/>
                <a:cs typeface="Arial" panose="020B0604020202020204" pitchFamily="34" charset="0"/>
              </a:rPr>
              <a:t>7.74%</a:t>
            </a:r>
          </a:p>
          <a:p>
            <a:r>
              <a:rPr lang="en-MY" sz="800">
                <a:latin typeface="Arial" panose="020B0604020202020204" pitchFamily="34" charset="0"/>
                <a:cs typeface="Arial" panose="020B0604020202020204" pitchFamily="34" charset="0"/>
              </a:rPr>
              <a:t>May-26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EBB38011-AB59-78DD-99AE-36B8B2E0A732}"/>
              </a:ext>
            </a:extLst>
          </p:cNvPr>
          <p:cNvSpPr txBox="1"/>
          <p:nvPr/>
        </p:nvSpPr>
        <p:spPr>
          <a:xfrm>
            <a:off x="4215165" y="2361791"/>
            <a:ext cx="575799" cy="215444"/>
          </a:xfrm>
          <a:prstGeom prst="rect">
            <a:avLst/>
          </a:prstGeom>
          <a:solidFill>
            <a:srgbClr val="F2AAA2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MY" sz="800">
                <a:latin typeface="Arial" panose="020B0604020202020204" pitchFamily="34" charset="0"/>
                <a:cs typeface="Arial" panose="020B0604020202020204" pitchFamily="34" charset="0"/>
              </a:rPr>
              <a:t>38.16%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F76806CE-71EB-9FAE-83B0-328A04DBA2A7}"/>
              </a:ext>
            </a:extLst>
          </p:cNvPr>
          <p:cNvSpPr txBox="1"/>
          <p:nvPr/>
        </p:nvSpPr>
        <p:spPr>
          <a:xfrm>
            <a:off x="4573431" y="3775249"/>
            <a:ext cx="575799" cy="215444"/>
          </a:xfrm>
          <a:prstGeom prst="rect">
            <a:avLst/>
          </a:prstGeom>
          <a:solidFill>
            <a:srgbClr val="F2AAA2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MY" sz="800">
                <a:latin typeface="Arial" panose="020B0604020202020204" pitchFamily="34" charset="0"/>
                <a:cs typeface="Arial" panose="020B0604020202020204" pitchFamily="34" charset="0"/>
              </a:rPr>
              <a:t>8.23%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A47E02E-E302-F862-207F-998736E953F5}"/>
              </a:ext>
            </a:extLst>
          </p:cNvPr>
          <p:cNvGraphicFramePr>
            <a:graphicFrameLocks noGrp="1"/>
          </p:cNvGraphicFramePr>
          <p:nvPr/>
        </p:nvGraphicFramePr>
        <p:xfrm>
          <a:off x="7149853" y="644265"/>
          <a:ext cx="3429500" cy="3740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375">
                  <a:extLst>
                    <a:ext uri="{9D8B030D-6E8A-4147-A177-3AD203B41FA5}">
                      <a16:colId xmlns:a16="http://schemas.microsoft.com/office/drawing/2014/main" val="1930408424"/>
                    </a:ext>
                  </a:extLst>
                </a:gridCol>
                <a:gridCol w="857375">
                  <a:extLst>
                    <a:ext uri="{9D8B030D-6E8A-4147-A177-3AD203B41FA5}">
                      <a16:colId xmlns:a16="http://schemas.microsoft.com/office/drawing/2014/main" val="670981349"/>
                    </a:ext>
                  </a:extLst>
                </a:gridCol>
                <a:gridCol w="857375">
                  <a:extLst>
                    <a:ext uri="{9D8B030D-6E8A-4147-A177-3AD203B41FA5}">
                      <a16:colId xmlns:a16="http://schemas.microsoft.com/office/drawing/2014/main" val="1444596602"/>
                    </a:ext>
                  </a:extLst>
                </a:gridCol>
                <a:gridCol w="857375">
                  <a:extLst>
                    <a:ext uri="{9D8B030D-6E8A-4147-A177-3AD203B41FA5}">
                      <a16:colId xmlns:a16="http://schemas.microsoft.com/office/drawing/2014/main" val="4185580563"/>
                    </a:ext>
                  </a:extLst>
                </a:gridCol>
              </a:tblGrid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</a:t>
                      </a:r>
                      <a:endParaRPr lang="en-MY" sz="11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Stage 1</a:t>
                      </a:r>
                      <a:endParaRPr lang="en-MY" sz="11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Stage 2</a:t>
                      </a:r>
                      <a:endParaRPr lang="en-MY" sz="11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Stage 3</a:t>
                      </a:r>
                      <a:endParaRPr lang="en-MY" sz="11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098797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Dec-24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RM2,270M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RM661M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RM1,954M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682117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Jan-25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RM2,159M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RM522M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RM1,961M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330214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Feb-25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RM2,481M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RM332M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RM2,014M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693831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Mar-25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RM2,535M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RM331M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RM2,005M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725926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Apr-25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RM2,406M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RM320M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RM1,944M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15776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May-25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RM2,485M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RM315M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RM1,918M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669852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Jun-25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RM2,758M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RM317M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RM1,902M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082308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Jul-25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RM3,024M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RM229M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RM2,025M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819456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Aug-25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RM2,944M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RM234M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RM2,007M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818376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Sep-25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RM2,934M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RM228M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RM1,940M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772435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Oct-25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RM2,973M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RM209M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RM1,890M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608762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Nov-25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RM2,813M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RM211M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RM1,866M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842233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Dec-25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RM2,928M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RM172M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RM278M</a:t>
                      </a:r>
                    </a:p>
                  </a:txBody>
                  <a:tcPr marL="7620" marR="7620" marT="7620" marB="0" anchor="ctr">
                    <a:solidFill>
                      <a:srgbClr val="E7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568589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Jan-26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RM2,845M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RM150M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RM272M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424885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Feb-26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RM2,927M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RM151M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RM272M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136125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Mar-26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RM2,927M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RM152M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RM280M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507666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Apr-26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RM3,031M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RM148M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RM274M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849717"/>
                  </a:ext>
                </a:extLst>
              </a:tr>
              <a:tr h="1968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May-26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RM3,161M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RM147M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RM278M</a:t>
                      </a:r>
                    </a:p>
                  </a:txBody>
                  <a:tcPr marL="7620" marR="7620" marT="7620" marB="0" anchor="ctr">
                    <a:solidFill>
                      <a:srgbClr val="ACD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284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985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5041E1-F06E-23DF-1DF4-A3CAE9EF7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02007" y="6335124"/>
            <a:ext cx="4114800" cy="365125"/>
          </a:xfrm>
        </p:spPr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F13F6A-5379-B87D-95D8-FB7F0D282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70A405-1E0A-066A-00BB-DF0E209B2624}"/>
              </a:ext>
            </a:extLst>
          </p:cNvPr>
          <p:cNvSpPr txBox="1">
            <a:spLocks/>
          </p:cNvSpPr>
          <p:nvPr/>
        </p:nvSpPr>
        <p:spPr>
          <a:xfrm>
            <a:off x="226321" y="186128"/>
            <a:ext cx="11739358" cy="61264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 BANKING PORTFOLIO BASE</a:t>
            </a:r>
            <a:endParaRPr lang="en-MY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FC3D32F3-5830-6D15-CCEB-81C2539C6DFB}"/>
              </a:ext>
            </a:extLst>
          </p:cNvPr>
          <p:cNvSpPr/>
          <p:nvPr/>
        </p:nvSpPr>
        <p:spPr>
          <a:xfrm>
            <a:off x="430399" y="787251"/>
            <a:ext cx="11331201" cy="589235"/>
          </a:xfrm>
          <a:prstGeom prst="round2DiagRect">
            <a:avLst>
              <a:gd name="adj1" fmla="val 22353"/>
              <a:gd name="adj2" fmla="val 11540"/>
            </a:avLst>
          </a:prstGeom>
          <a:solidFill>
            <a:srgbClr val="002060"/>
          </a:solidFill>
          <a:ln w="19050">
            <a:solidFill>
              <a:srgbClr val="002060">
                <a:alpha val="87000"/>
              </a:srgbClr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Overall Banking Portfolio As of 31 March 2026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i="1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Total– RM2,659.75 mil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6276C5-B476-6CAD-D008-AA3849615EDB}"/>
              </a:ext>
            </a:extLst>
          </p:cNvPr>
          <p:cNvSpPr/>
          <p:nvPr/>
        </p:nvSpPr>
        <p:spPr>
          <a:xfrm>
            <a:off x="7532595" y="1530808"/>
            <a:ext cx="2207285" cy="43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Portfolio by Department</a:t>
            </a:r>
            <a:endParaRPr kumimoji="0" lang="en-MY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17DA17-BD05-2E55-22B0-D796010B94D4}"/>
              </a:ext>
            </a:extLst>
          </p:cNvPr>
          <p:cNvSpPr/>
          <p:nvPr/>
        </p:nvSpPr>
        <p:spPr>
          <a:xfrm>
            <a:off x="2452122" y="1530808"/>
            <a:ext cx="2207285" cy="43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Portfolio by Category</a:t>
            </a:r>
            <a:endParaRPr kumimoji="0" lang="en-MY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0A46A7D-ECE4-9B5F-49B9-AB63C6633ADF}"/>
              </a:ext>
            </a:extLst>
          </p:cNvPr>
          <p:cNvGraphicFramePr/>
          <p:nvPr/>
        </p:nvGraphicFramePr>
        <p:xfrm>
          <a:off x="1576417" y="2017778"/>
          <a:ext cx="3960000" cy="39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E457EF3E-8EBB-0D95-67AB-87062132BEAF}"/>
              </a:ext>
            </a:extLst>
          </p:cNvPr>
          <p:cNvGraphicFramePr/>
          <p:nvPr/>
        </p:nvGraphicFramePr>
        <p:xfrm>
          <a:off x="6655584" y="2017778"/>
          <a:ext cx="3960000" cy="39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21466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0ADF3-EB03-6909-1CFA-685CC84E5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D85247-83EB-FBD2-1684-D1FF32820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660824-1DDD-E48B-BAE3-43BBAB5C1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0A8CF8-B4A2-7B87-AAEC-D1647D2D2F80}"/>
              </a:ext>
            </a:extLst>
          </p:cNvPr>
          <p:cNvSpPr txBox="1"/>
          <p:nvPr/>
        </p:nvSpPr>
        <p:spPr>
          <a:xfrm>
            <a:off x="-54501" y="166893"/>
            <a:ext cx="1233056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PORTFOLIO – CORPORATE TEAM</a:t>
            </a:r>
            <a:endParaRPr kumimoji="0" lang="en-US" sz="3200" b="1" i="0" u="sng" strike="noStrike" kern="1200" cap="none" spc="0" normalizeH="0" baseline="0" noProof="0">
              <a:ln>
                <a:noFill/>
              </a:ln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A02250-C9EB-6401-CC64-65C45FA0B08B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891081"/>
          <a:ext cx="11582399" cy="5324521"/>
        </p:xfrm>
        <a:graphic>
          <a:graphicData uri="http://schemas.openxmlformats.org/drawingml/2006/table">
            <a:tbl>
              <a:tblPr/>
              <a:tblGrid>
                <a:gridCol w="412748">
                  <a:extLst>
                    <a:ext uri="{9D8B030D-6E8A-4147-A177-3AD203B41FA5}">
                      <a16:colId xmlns:a16="http://schemas.microsoft.com/office/drawing/2014/main" val="2515938280"/>
                    </a:ext>
                  </a:extLst>
                </a:gridCol>
                <a:gridCol w="2040206">
                  <a:extLst>
                    <a:ext uri="{9D8B030D-6E8A-4147-A177-3AD203B41FA5}">
                      <a16:colId xmlns:a16="http://schemas.microsoft.com/office/drawing/2014/main" val="3275366026"/>
                    </a:ext>
                  </a:extLst>
                </a:gridCol>
                <a:gridCol w="1217557">
                  <a:extLst>
                    <a:ext uri="{9D8B030D-6E8A-4147-A177-3AD203B41FA5}">
                      <a16:colId xmlns:a16="http://schemas.microsoft.com/office/drawing/2014/main" val="1971008502"/>
                    </a:ext>
                  </a:extLst>
                </a:gridCol>
                <a:gridCol w="1413793">
                  <a:extLst>
                    <a:ext uri="{9D8B030D-6E8A-4147-A177-3AD203B41FA5}">
                      <a16:colId xmlns:a16="http://schemas.microsoft.com/office/drawing/2014/main" val="3387784675"/>
                    </a:ext>
                  </a:extLst>
                </a:gridCol>
                <a:gridCol w="1636729">
                  <a:extLst>
                    <a:ext uri="{9D8B030D-6E8A-4147-A177-3AD203B41FA5}">
                      <a16:colId xmlns:a16="http://schemas.microsoft.com/office/drawing/2014/main" val="3794723492"/>
                    </a:ext>
                  </a:extLst>
                </a:gridCol>
                <a:gridCol w="713646">
                  <a:extLst>
                    <a:ext uri="{9D8B030D-6E8A-4147-A177-3AD203B41FA5}">
                      <a16:colId xmlns:a16="http://schemas.microsoft.com/office/drawing/2014/main" val="4050397444"/>
                    </a:ext>
                  </a:extLst>
                </a:gridCol>
                <a:gridCol w="1311924">
                  <a:extLst>
                    <a:ext uri="{9D8B030D-6E8A-4147-A177-3AD203B41FA5}">
                      <a16:colId xmlns:a16="http://schemas.microsoft.com/office/drawing/2014/main" val="4275245361"/>
                    </a:ext>
                  </a:extLst>
                </a:gridCol>
                <a:gridCol w="1331088">
                  <a:extLst>
                    <a:ext uri="{9D8B030D-6E8A-4147-A177-3AD203B41FA5}">
                      <a16:colId xmlns:a16="http://schemas.microsoft.com/office/drawing/2014/main" val="707714621"/>
                    </a:ext>
                  </a:extLst>
                </a:gridCol>
                <a:gridCol w="1504708">
                  <a:extLst>
                    <a:ext uri="{9D8B030D-6E8A-4147-A177-3AD203B41FA5}">
                      <a16:colId xmlns:a16="http://schemas.microsoft.com/office/drawing/2014/main" val="1591665677"/>
                    </a:ext>
                  </a:extLst>
                </a:gridCol>
              </a:tblGrid>
              <a:tr h="60219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 LIMIT (FX)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66762"/>
                  </a:ext>
                </a:extLst>
              </a:tr>
              <a:tr h="167276"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Duta Marine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Naqhib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32,368,000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32,673,940.43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6670"/>
                  </a:ext>
                </a:extLst>
              </a:tr>
              <a:tr h="167276"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117,334,000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113,727,399.48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77737"/>
                  </a:ext>
                </a:extLst>
              </a:tr>
              <a:tr h="334553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Hasilwan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(M)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Naqhib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Contract Financing Domestic-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Pending Disbursement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MYR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011815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Hextar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Global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Naqhib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 Financing - i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10,200,000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41,269,200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32,377,979.98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283169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Ilm Logistics (M)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endParaRPr lang="en-US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Naqhib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 Financing - i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Pending Disbursement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MYR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54924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MKRS Bumi (M)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Farisha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 Financing - i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MYR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2,951,017.75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944164"/>
                  </a:ext>
                </a:extLst>
              </a:tr>
              <a:tr h="260562"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MTC Engineering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Helmi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Pending Disbursement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MYR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59145"/>
                  </a:ext>
                </a:extLst>
              </a:tr>
              <a:tr h="260562"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Pending Disbursement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11,200,000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45,315,200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306124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Ping Petroleum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Naqhib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141,610,000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28,436,126.65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709846"/>
                  </a:ext>
                </a:extLst>
              </a:tr>
              <a:tr h="334553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 Envirotech Akva Indonesia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Naqhib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Overseas Project Financing 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6,250,000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25,287,500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20,767,471.73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954523"/>
                  </a:ext>
                </a:extLst>
              </a:tr>
              <a:tr h="2676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Sarawak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Petchem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 Ling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76,874,000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61,503,217.31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729625"/>
                  </a:ext>
                </a:extLst>
              </a:tr>
              <a:tr h="260562">
                <a:tc row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Agro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19 Berhad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Helmi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776431"/>
                  </a:ext>
                </a:extLst>
              </a:tr>
              <a:tr h="167276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71,863,582.54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053671"/>
                  </a:ext>
                </a:extLst>
              </a:tr>
              <a:tr h="167276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095806"/>
                  </a:ext>
                </a:extLst>
              </a:tr>
              <a:tr h="167276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12,138,000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953639"/>
                  </a:ext>
                </a:extLst>
              </a:tr>
              <a:tr h="167276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Agro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19 Industries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endParaRPr lang="en-US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Helmi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3,268,000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3,268,000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2,646,195.47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518383"/>
                  </a:ext>
                </a:extLst>
              </a:tr>
              <a:tr h="260562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1,732,000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1,732,000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799712"/>
                  </a:ext>
                </a:extLst>
              </a:tr>
              <a:tr h="334553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159263"/>
                  </a:ext>
                </a:extLst>
              </a:tr>
              <a:tr h="3345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Amcorp Properties Berhad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Irwan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Overseas Investment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GBP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141,658,400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113,217,044.65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046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6375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1DB3-623A-24CE-C6DF-6E03D826B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FFC36B-7448-1F46-457C-C864BBE55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92B686-F666-1412-D1AD-EFE9CC5F1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8C5EC7-F400-8B5F-7B17-23A8502A3F9C}"/>
              </a:ext>
            </a:extLst>
          </p:cNvPr>
          <p:cNvSpPr txBox="1"/>
          <p:nvPr/>
        </p:nvSpPr>
        <p:spPr>
          <a:xfrm>
            <a:off x="-54501" y="166893"/>
            <a:ext cx="1233056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PORTFOLIO – CORPORATE TEAM</a:t>
            </a:r>
            <a:endParaRPr kumimoji="0" lang="en-US" sz="3200" b="1" i="0" u="sng" strike="noStrike" kern="1200" cap="none" spc="0" normalizeH="0" baseline="0" noProof="0">
              <a:ln>
                <a:noFill/>
              </a:ln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F00AD3-DCBB-AB69-E488-BAEB1AFD7D16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891079"/>
          <a:ext cx="11582399" cy="5287667"/>
        </p:xfrm>
        <a:graphic>
          <a:graphicData uri="http://schemas.openxmlformats.org/drawingml/2006/table">
            <a:tbl>
              <a:tblPr/>
              <a:tblGrid>
                <a:gridCol w="412748">
                  <a:extLst>
                    <a:ext uri="{9D8B030D-6E8A-4147-A177-3AD203B41FA5}">
                      <a16:colId xmlns:a16="http://schemas.microsoft.com/office/drawing/2014/main" val="2515938280"/>
                    </a:ext>
                  </a:extLst>
                </a:gridCol>
                <a:gridCol w="2040206">
                  <a:extLst>
                    <a:ext uri="{9D8B030D-6E8A-4147-A177-3AD203B41FA5}">
                      <a16:colId xmlns:a16="http://schemas.microsoft.com/office/drawing/2014/main" val="3275366026"/>
                    </a:ext>
                  </a:extLst>
                </a:gridCol>
                <a:gridCol w="1217557">
                  <a:extLst>
                    <a:ext uri="{9D8B030D-6E8A-4147-A177-3AD203B41FA5}">
                      <a16:colId xmlns:a16="http://schemas.microsoft.com/office/drawing/2014/main" val="1971008502"/>
                    </a:ext>
                  </a:extLst>
                </a:gridCol>
                <a:gridCol w="1413793">
                  <a:extLst>
                    <a:ext uri="{9D8B030D-6E8A-4147-A177-3AD203B41FA5}">
                      <a16:colId xmlns:a16="http://schemas.microsoft.com/office/drawing/2014/main" val="3387784675"/>
                    </a:ext>
                  </a:extLst>
                </a:gridCol>
                <a:gridCol w="1636729">
                  <a:extLst>
                    <a:ext uri="{9D8B030D-6E8A-4147-A177-3AD203B41FA5}">
                      <a16:colId xmlns:a16="http://schemas.microsoft.com/office/drawing/2014/main" val="3794723492"/>
                    </a:ext>
                  </a:extLst>
                </a:gridCol>
                <a:gridCol w="713646">
                  <a:extLst>
                    <a:ext uri="{9D8B030D-6E8A-4147-A177-3AD203B41FA5}">
                      <a16:colId xmlns:a16="http://schemas.microsoft.com/office/drawing/2014/main" val="4050397444"/>
                    </a:ext>
                  </a:extLst>
                </a:gridCol>
                <a:gridCol w="1311924">
                  <a:extLst>
                    <a:ext uri="{9D8B030D-6E8A-4147-A177-3AD203B41FA5}">
                      <a16:colId xmlns:a16="http://schemas.microsoft.com/office/drawing/2014/main" val="4275245361"/>
                    </a:ext>
                  </a:extLst>
                </a:gridCol>
                <a:gridCol w="1331088">
                  <a:extLst>
                    <a:ext uri="{9D8B030D-6E8A-4147-A177-3AD203B41FA5}">
                      <a16:colId xmlns:a16="http://schemas.microsoft.com/office/drawing/2014/main" val="707714621"/>
                    </a:ext>
                  </a:extLst>
                </a:gridCol>
                <a:gridCol w="1504708">
                  <a:extLst>
                    <a:ext uri="{9D8B030D-6E8A-4147-A177-3AD203B41FA5}">
                      <a16:colId xmlns:a16="http://schemas.microsoft.com/office/drawing/2014/main" val="1591665677"/>
                    </a:ext>
                  </a:extLst>
                </a:gridCol>
              </a:tblGrid>
              <a:tr h="5186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CRY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 LIMIT (FX)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66762"/>
                  </a:ext>
                </a:extLst>
              </a:tr>
              <a:tr h="1728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Bahru Stainless Sdn Bhd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May Ling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202,300,000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283169"/>
                  </a:ext>
                </a:extLst>
              </a:tr>
              <a:tr h="3457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Berjaya Okinawa Investment (S) Pte Ltd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Addina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Overseas Investment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283,220,000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158,262,743.34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54924"/>
                  </a:ext>
                </a:extLst>
              </a:tr>
              <a:tr h="172874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Bumi Armada Holdings Labuan Limited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May Ling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80,920,000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50,073,112.35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154736"/>
                  </a:ext>
                </a:extLst>
              </a:tr>
              <a:tr h="172874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Loan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80,920,000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28,797,435.79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94721"/>
                  </a:ext>
                </a:extLst>
              </a:tr>
              <a:tr h="3457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Cahya Mata Phosphates Industries Sdn Bhd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Addina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Overseas Project Financing  - i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80,920,000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10,746,715.17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649636"/>
                  </a:ext>
                </a:extLst>
              </a:tr>
              <a:tr h="3457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FGV Capital Sdn Bhd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Helmi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350,000,000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350,000,000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265929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Global Tower Corporation Pty Ltd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Irwan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Overseas Project Financing 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MY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12,400,000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50,170,400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37,163,440.01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323422"/>
                  </a:ext>
                </a:extLst>
              </a:tr>
              <a:tr h="172874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5,970,000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24,154,620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474716"/>
                  </a:ext>
                </a:extLst>
              </a:tr>
              <a:tr h="172874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6,473,600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6,487,767.72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255149"/>
                  </a:ext>
                </a:extLst>
              </a:tr>
              <a:tr h="1728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Hy-fresh Industries Sdn. Bhd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Zara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16,507,383.69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421397"/>
                  </a:ext>
                </a:extLst>
              </a:tr>
              <a:tr h="345748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Iradar Sdn. Bhd.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Farisha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698987"/>
                  </a:ext>
                </a:extLst>
              </a:tr>
              <a:tr h="172874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42725"/>
                  </a:ext>
                </a:extLst>
              </a:tr>
              <a:tr h="3457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Kian Joo Cans Distribution Sdn Bhd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Irwan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231,918,951.65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041309"/>
                  </a:ext>
                </a:extLst>
              </a:tr>
              <a:tr h="3457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Kooka Paper Manufacturing Sdn. Bhd.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Zara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121,380,000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98,974,946.22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2432"/>
                  </a:ext>
                </a:extLst>
              </a:tr>
              <a:tr h="3457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Lumut Naval Shipyard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Irwan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Letter of Credit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66188"/>
                  </a:ext>
                </a:extLst>
              </a:tr>
              <a:tr h="345748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OM Materials (Sarawak) Sdn Bhd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Helmi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Letter of Credit/Trust Receipt-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141,610,000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93,268,240.72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757919"/>
                  </a:ext>
                </a:extLst>
              </a:tr>
              <a:tr h="345748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Overseas Project Financing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141,610,000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106,318,325.36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959648"/>
                  </a:ext>
                </a:extLst>
              </a:tr>
              <a:tr h="172874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124,615.82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072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9586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5BF5C-7BE8-8A3C-6204-90F6809B5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419DD0-0844-7EA9-5E12-58E7571C7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60ABBE-8142-8CF8-17C5-9123A433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FD1A1E-3575-A769-C6CB-4933AB86A714}"/>
              </a:ext>
            </a:extLst>
          </p:cNvPr>
          <p:cNvSpPr txBox="1"/>
          <p:nvPr/>
        </p:nvSpPr>
        <p:spPr>
          <a:xfrm>
            <a:off x="-54501" y="166893"/>
            <a:ext cx="1233056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PORTFOLIO – CORPORATE TEAM</a:t>
            </a:r>
            <a:endParaRPr kumimoji="0" lang="en-US" sz="3200" b="1" i="0" u="sng" strike="noStrike" kern="1200" cap="none" spc="0" normalizeH="0" baseline="0" noProof="0">
              <a:ln>
                <a:noFill/>
              </a:ln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1AA5D7-AD15-6302-1070-5C32E1FF53E7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891080"/>
          <a:ext cx="11582399" cy="5336096"/>
        </p:xfrm>
        <a:graphic>
          <a:graphicData uri="http://schemas.openxmlformats.org/drawingml/2006/table">
            <a:tbl>
              <a:tblPr/>
              <a:tblGrid>
                <a:gridCol w="412748">
                  <a:extLst>
                    <a:ext uri="{9D8B030D-6E8A-4147-A177-3AD203B41FA5}">
                      <a16:colId xmlns:a16="http://schemas.microsoft.com/office/drawing/2014/main" val="2515938280"/>
                    </a:ext>
                  </a:extLst>
                </a:gridCol>
                <a:gridCol w="2040206">
                  <a:extLst>
                    <a:ext uri="{9D8B030D-6E8A-4147-A177-3AD203B41FA5}">
                      <a16:colId xmlns:a16="http://schemas.microsoft.com/office/drawing/2014/main" val="3275366026"/>
                    </a:ext>
                  </a:extLst>
                </a:gridCol>
                <a:gridCol w="1217557">
                  <a:extLst>
                    <a:ext uri="{9D8B030D-6E8A-4147-A177-3AD203B41FA5}">
                      <a16:colId xmlns:a16="http://schemas.microsoft.com/office/drawing/2014/main" val="1971008502"/>
                    </a:ext>
                  </a:extLst>
                </a:gridCol>
                <a:gridCol w="1413793">
                  <a:extLst>
                    <a:ext uri="{9D8B030D-6E8A-4147-A177-3AD203B41FA5}">
                      <a16:colId xmlns:a16="http://schemas.microsoft.com/office/drawing/2014/main" val="3387784675"/>
                    </a:ext>
                  </a:extLst>
                </a:gridCol>
                <a:gridCol w="1636729">
                  <a:extLst>
                    <a:ext uri="{9D8B030D-6E8A-4147-A177-3AD203B41FA5}">
                      <a16:colId xmlns:a16="http://schemas.microsoft.com/office/drawing/2014/main" val="3794723492"/>
                    </a:ext>
                  </a:extLst>
                </a:gridCol>
                <a:gridCol w="713646">
                  <a:extLst>
                    <a:ext uri="{9D8B030D-6E8A-4147-A177-3AD203B41FA5}">
                      <a16:colId xmlns:a16="http://schemas.microsoft.com/office/drawing/2014/main" val="4050397444"/>
                    </a:ext>
                  </a:extLst>
                </a:gridCol>
                <a:gridCol w="1311924">
                  <a:extLst>
                    <a:ext uri="{9D8B030D-6E8A-4147-A177-3AD203B41FA5}">
                      <a16:colId xmlns:a16="http://schemas.microsoft.com/office/drawing/2014/main" val="4275245361"/>
                    </a:ext>
                  </a:extLst>
                </a:gridCol>
                <a:gridCol w="1331088">
                  <a:extLst>
                    <a:ext uri="{9D8B030D-6E8A-4147-A177-3AD203B41FA5}">
                      <a16:colId xmlns:a16="http://schemas.microsoft.com/office/drawing/2014/main" val="707714621"/>
                    </a:ext>
                  </a:extLst>
                </a:gridCol>
                <a:gridCol w="1504708">
                  <a:extLst>
                    <a:ext uri="{9D8B030D-6E8A-4147-A177-3AD203B41FA5}">
                      <a16:colId xmlns:a16="http://schemas.microsoft.com/office/drawing/2014/main" val="1591665677"/>
                    </a:ext>
                  </a:extLst>
                </a:gridCol>
              </a:tblGrid>
              <a:tr h="4821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CRY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 LIMIT (FX)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66762"/>
                  </a:ext>
                </a:extLst>
              </a:tr>
              <a:tr h="160726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Pertama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Ferroalloys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Helmi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Bank Guarantee 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47944"/>
                  </a:ext>
                </a:extLst>
              </a:tr>
              <a:tr h="321452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Letter of Credit/Trust Receipt-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121,380,000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50,805,971.53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694853"/>
                  </a:ext>
                </a:extLst>
              </a:tr>
              <a:tr h="160726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80,920,000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82,176,503.67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779612"/>
                  </a:ext>
                </a:extLst>
              </a:tr>
              <a:tr h="2571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Prinsiptek International Ltd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Farisha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Bank Guarantee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Watchlist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1,537,480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783717"/>
                  </a:ext>
                </a:extLst>
              </a:tr>
              <a:tr h="160726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Pt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Adventa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Biotech International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Helmi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4,750,000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19,218,500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100918"/>
                  </a:ext>
                </a:extLst>
              </a:tr>
              <a:tr h="160726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8,092,000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916048"/>
                  </a:ext>
                </a:extLst>
              </a:tr>
              <a:tr h="2571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Pts Goldkist Industries Sdn Bhd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Zara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3,923,191.36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665607"/>
                  </a:ext>
                </a:extLst>
              </a:tr>
              <a:tr h="2571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Qsr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Trading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Zara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44225"/>
                  </a:ext>
                </a:extLst>
              </a:tr>
              <a:tr h="2571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Republic Of Iraq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May Ling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Loan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1,302,568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5,270,190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622,605.97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590825"/>
                  </a:ext>
                </a:extLst>
              </a:tr>
              <a:tr h="2571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Republic Of Seychelles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Addina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Loan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6,657,337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26,935,587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5,914,058.15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609706"/>
                  </a:ext>
                </a:extLst>
              </a:tr>
              <a:tr h="3214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MISC Group (6 SPVs)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Irwan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Overseas Project Financing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161,840,000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129,222,678.710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2432"/>
                  </a:ext>
                </a:extLst>
              </a:tr>
              <a:tr h="2571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Sky Blue Media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Zara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2,111,000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8,541,106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7,234,469.92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015220"/>
                  </a:ext>
                </a:extLst>
              </a:tr>
              <a:tr h="4178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Ministry Of Finance Government Of Lao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Pdr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May Ling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Buyer Credit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283,220,000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135,889,742.62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450318"/>
                  </a:ext>
                </a:extLst>
              </a:tr>
              <a:tr h="4178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Tiong Nam Logistics Solutions Sdn. Bhd.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May Ling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17,300,000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17,300,000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16,625,605.87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919347"/>
                  </a:ext>
                </a:extLst>
              </a:tr>
              <a:tr h="257161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Vivendi Asset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Zara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4,400,000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17,802,400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10,826,787.17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28900"/>
                  </a:ext>
                </a:extLst>
              </a:tr>
              <a:tr h="257161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4,600,000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18,611,600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782699"/>
                  </a:ext>
                </a:extLst>
              </a:tr>
              <a:tr h="4178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Yinson Global Corporation (S) Pte Ltd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Addina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40,460,000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39,958,700.60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282977"/>
                  </a:ext>
                </a:extLst>
              </a:tr>
              <a:tr h="2571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  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4,124,736,278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1,802,007,969.40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47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934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26902-1541-B98C-18A2-11A3E394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C7864-4D8A-A400-9FB6-918E9C1D5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FFD423-BA26-503A-B6DD-AFB196C0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DC752-934D-8C2C-7073-FB023DABBFCA}"/>
              </a:ext>
            </a:extLst>
          </p:cNvPr>
          <p:cNvSpPr txBox="1"/>
          <p:nvPr/>
        </p:nvSpPr>
        <p:spPr>
          <a:xfrm>
            <a:off x="-54501" y="166893"/>
            <a:ext cx="1233056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PORTFOLIO – COMMERCIAL TEAM</a:t>
            </a:r>
            <a:endParaRPr kumimoji="0" lang="en-US" sz="3200" b="1" i="0" u="sng" strike="noStrike" kern="1200" cap="none" spc="0" normalizeH="0" baseline="0" noProof="0">
              <a:ln>
                <a:noFill/>
              </a:ln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87F180-E3EE-BA73-3562-5F1057934B08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891081"/>
          <a:ext cx="11582399" cy="5528586"/>
        </p:xfrm>
        <a:graphic>
          <a:graphicData uri="http://schemas.openxmlformats.org/drawingml/2006/table">
            <a:tbl>
              <a:tblPr/>
              <a:tblGrid>
                <a:gridCol w="412748">
                  <a:extLst>
                    <a:ext uri="{9D8B030D-6E8A-4147-A177-3AD203B41FA5}">
                      <a16:colId xmlns:a16="http://schemas.microsoft.com/office/drawing/2014/main" val="2515938280"/>
                    </a:ext>
                  </a:extLst>
                </a:gridCol>
                <a:gridCol w="2040206">
                  <a:extLst>
                    <a:ext uri="{9D8B030D-6E8A-4147-A177-3AD203B41FA5}">
                      <a16:colId xmlns:a16="http://schemas.microsoft.com/office/drawing/2014/main" val="3275366026"/>
                    </a:ext>
                  </a:extLst>
                </a:gridCol>
                <a:gridCol w="1217557">
                  <a:extLst>
                    <a:ext uri="{9D8B030D-6E8A-4147-A177-3AD203B41FA5}">
                      <a16:colId xmlns:a16="http://schemas.microsoft.com/office/drawing/2014/main" val="1971008502"/>
                    </a:ext>
                  </a:extLst>
                </a:gridCol>
                <a:gridCol w="1413793">
                  <a:extLst>
                    <a:ext uri="{9D8B030D-6E8A-4147-A177-3AD203B41FA5}">
                      <a16:colId xmlns:a16="http://schemas.microsoft.com/office/drawing/2014/main" val="3387784675"/>
                    </a:ext>
                  </a:extLst>
                </a:gridCol>
                <a:gridCol w="1636729">
                  <a:extLst>
                    <a:ext uri="{9D8B030D-6E8A-4147-A177-3AD203B41FA5}">
                      <a16:colId xmlns:a16="http://schemas.microsoft.com/office/drawing/2014/main" val="3794723492"/>
                    </a:ext>
                  </a:extLst>
                </a:gridCol>
                <a:gridCol w="713646">
                  <a:extLst>
                    <a:ext uri="{9D8B030D-6E8A-4147-A177-3AD203B41FA5}">
                      <a16:colId xmlns:a16="http://schemas.microsoft.com/office/drawing/2014/main" val="4050397444"/>
                    </a:ext>
                  </a:extLst>
                </a:gridCol>
                <a:gridCol w="1311924">
                  <a:extLst>
                    <a:ext uri="{9D8B030D-6E8A-4147-A177-3AD203B41FA5}">
                      <a16:colId xmlns:a16="http://schemas.microsoft.com/office/drawing/2014/main" val="4275245361"/>
                    </a:ext>
                  </a:extLst>
                </a:gridCol>
                <a:gridCol w="1331088">
                  <a:extLst>
                    <a:ext uri="{9D8B030D-6E8A-4147-A177-3AD203B41FA5}">
                      <a16:colId xmlns:a16="http://schemas.microsoft.com/office/drawing/2014/main" val="707714621"/>
                    </a:ext>
                  </a:extLst>
                </a:gridCol>
                <a:gridCol w="1504708">
                  <a:extLst>
                    <a:ext uri="{9D8B030D-6E8A-4147-A177-3AD203B41FA5}">
                      <a16:colId xmlns:a16="http://schemas.microsoft.com/office/drawing/2014/main" val="1591665677"/>
                    </a:ext>
                  </a:extLst>
                </a:gridCol>
              </a:tblGrid>
              <a:tr h="4206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CRY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 LIMIT (FX)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66762"/>
                  </a:ext>
                </a:extLst>
              </a:tr>
              <a:tr h="140203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Alypz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Nurin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Bank Guarantee 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20,230,000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283169"/>
                  </a:ext>
                </a:extLst>
              </a:tr>
              <a:tr h="140203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4,046,000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54924"/>
                  </a:ext>
                </a:extLst>
              </a:tr>
              <a:tr h="140203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6,069,000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041309"/>
                  </a:ext>
                </a:extLst>
              </a:tr>
              <a:tr h="1402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Biforst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Logistics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Asyraf / Naser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3,965,544.80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47944"/>
                  </a:ext>
                </a:extLst>
              </a:tr>
              <a:tr h="172656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Enviros</a:t>
                      </a:r>
                      <a:r>
                        <a:rPr lang="fr-FR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Survey &amp; </a:t>
                      </a:r>
                      <a:r>
                        <a:rPr lang="fr-FR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Consultancy</a:t>
                      </a:r>
                      <a:r>
                        <a:rPr lang="fr-FR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fr-FR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fr-FR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fr-FR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Nurin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Bank Guarantee 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4,046,000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694853"/>
                  </a:ext>
                </a:extLst>
              </a:tr>
              <a:tr h="140203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4,046,000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4,070,035.63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779612"/>
                  </a:ext>
                </a:extLst>
              </a:tr>
              <a:tr h="140203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311,749.45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783717"/>
                  </a:ext>
                </a:extLst>
              </a:tr>
              <a:tr h="280406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Helms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Geomarine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Mirza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Bank Guarantee -i (Trade)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4,046,000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100918"/>
                  </a:ext>
                </a:extLst>
              </a:tr>
              <a:tr h="140203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1,758,969.49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916048"/>
                  </a:ext>
                </a:extLst>
              </a:tr>
              <a:tr h="280406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Hyrax Oil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Nurin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Overseas Project Financing  - i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3,196,635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12,933,584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9,601,146.79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665607"/>
                  </a:ext>
                </a:extLst>
              </a:tr>
              <a:tr h="140203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1,910,161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7,728,511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5,724,888.39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44225"/>
                  </a:ext>
                </a:extLst>
              </a:tr>
              <a:tr h="140203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Ingress Industrial (Malaysia)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Mirza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103,175,022.99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590825"/>
                  </a:ext>
                </a:extLst>
              </a:tr>
              <a:tr h="140203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16,184,000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15,065,877.14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609706"/>
                  </a:ext>
                </a:extLst>
              </a:tr>
              <a:tr h="280406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Jland Australia Pty Ltd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Mirza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Overseas Project Financing  - i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86,056,000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      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2432"/>
                  </a:ext>
                </a:extLst>
              </a:tr>
              <a:tr h="140203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5,600,000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15,545,600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14,496,798.86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66188"/>
                  </a:ext>
                </a:extLst>
              </a:tr>
              <a:tr h="2243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LKLAdvance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Metaltech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Mirza / Naser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282991"/>
                  </a:ext>
                </a:extLst>
              </a:tr>
              <a:tr h="3645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Malaysia Steel Works (KL) Berhad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Asyraf / Naser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50,000,000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34,335,423.58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478249"/>
                  </a:ext>
                </a:extLst>
              </a:tr>
              <a:tr h="2243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Marine Creation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Nurin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1,825,327.27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56590"/>
                  </a:ext>
                </a:extLst>
              </a:tr>
              <a:tr h="2243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Mewah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-oils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Asyraf / Naser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27,786,793.90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354111"/>
                  </a:ext>
                </a:extLst>
              </a:tr>
              <a:tr h="2243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Mewaholeo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Industries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Asyraf / Naser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7,525,469.33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463625"/>
                  </a:ext>
                </a:extLst>
              </a:tr>
              <a:tr h="224325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MHC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Coldstorage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Mirza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5,147,673.94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34509"/>
                  </a:ext>
                </a:extLst>
              </a:tr>
              <a:tr h="224325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14,545,191.48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791878"/>
                  </a:ext>
                </a:extLst>
              </a:tr>
              <a:tr h="224325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Ocean21 Offshore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Mirza / Naser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Bank Guarantee 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2,200,000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2,200,000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75087"/>
                  </a:ext>
                </a:extLst>
              </a:tr>
              <a:tr h="224325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1,976,223.55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300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1199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2AF79-A813-3912-1F19-263AC6738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4178FFA-E9C4-7087-0F08-684840D9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694C4D-613F-EBF9-739A-8EDA2114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E898B0-20AB-7233-1F46-2E9F02BB5212}"/>
              </a:ext>
            </a:extLst>
          </p:cNvPr>
          <p:cNvSpPr txBox="1"/>
          <p:nvPr/>
        </p:nvSpPr>
        <p:spPr>
          <a:xfrm>
            <a:off x="-54501" y="166893"/>
            <a:ext cx="1233056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ctr">
              <a:defRPr/>
            </a:pP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PORTFOLIO – </a:t>
            </a: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/>
              </a:rPr>
              <a:t>COMMERCIAL</a:t>
            </a: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TEAM</a:t>
            </a:r>
            <a:endParaRPr kumimoji="0" lang="en-US" sz="3200" b="1" i="0" u="sng" strike="noStrike" kern="1200" cap="none" spc="0" normalizeH="0" baseline="0" noProof="0">
              <a:ln>
                <a:noFill/>
              </a:ln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53CACF-0577-D641-8CC9-F3FC67225BD2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891080"/>
          <a:ext cx="11582399" cy="5314921"/>
        </p:xfrm>
        <a:graphic>
          <a:graphicData uri="http://schemas.openxmlformats.org/drawingml/2006/table">
            <a:tbl>
              <a:tblPr/>
              <a:tblGrid>
                <a:gridCol w="412748">
                  <a:extLst>
                    <a:ext uri="{9D8B030D-6E8A-4147-A177-3AD203B41FA5}">
                      <a16:colId xmlns:a16="http://schemas.microsoft.com/office/drawing/2014/main" val="2515938280"/>
                    </a:ext>
                  </a:extLst>
                </a:gridCol>
                <a:gridCol w="2040206">
                  <a:extLst>
                    <a:ext uri="{9D8B030D-6E8A-4147-A177-3AD203B41FA5}">
                      <a16:colId xmlns:a16="http://schemas.microsoft.com/office/drawing/2014/main" val="3275366026"/>
                    </a:ext>
                  </a:extLst>
                </a:gridCol>
                <a:gridCol w="1217557">
                  <a:extLst>
                    <a:ext uri="{9D8B030D-6E8A-4147-A177-3AD203B41FA5}">
                      <a16:colId xmlns:a16="http://schemas.microsoft.com/office/drawing/2014/main" val="1971008502"/>
                    </a:ext>
                  </a:extLst>
                </a:gridCol>
                <a:gridCol w="1413793">
                  <a:extLst>
                    <a:ext uri="{9D8B030D-6E8A-4147-A177-3AD203B41FA5}">
                      <a16:colId xmlns:a16="http://schemas.microsoft.com/office/drawing/2014/main" val="3387784675"/>
                    </a:ext>
                  </a:extLst>
                </a:gridCol>
                <a:gridCol w="1636729">
                  <a:extLst>
                    <a:ext uri="{9D8B030D-6E8A-4147-A177-3AD203B41FA5}">
                      <a16:colId xmlns:a16="http://schemas.microsoft.com/office/drawing/2014/main" val="3794723492"/>
                    </a:ext>
                  </a:extLst>
                </a:gridCol>
                <a:gridCol w="713646">
                  <a:extLst>
                    <a:ext uri="{9D8B030D-6E8A-4147-A177-3AD203B41FA5}">
                      <a16:colId xmlns:a16="http://schemas.microsoft.com/office/drawing/2014/main" val="4050397444"/>
                    </a:ext>
                  </a:extLst>
                </a:gridCol>
                <a:gridCol w="1311924">
                  <a:extLst>
                    <a:ext uri="{9D8B030D-6E8A-4147-A177-3AD203B41FA5}">
                      <a16:colId xmlns:a16="http://schemas.microsoft.com/office/drawing/2014/main" val="4275245361"/>
                    </a:ext>
                  </a:extLst>
                </a:gridCol>
                <a:gridCol w="1331088">
                  <a:extLst>
                    <a:ext uri="{9D8B030D-6E8A-4147-A177-3AD203B41FA5}">
                      <a16:colId xmlns:a16="http://schemas.microsoft.com/office/drawing/2014/main" val="707714621"/>
                    </a:ext>
                  </a:extLst>
                </a:gridCol>
                <a:gridCol w="1504708">
                  <a:extLst>
                    <a:ext uri="{9D8B030D-6E8A-4147-A177-3AD203B41FA5}">
                      <a16:colId xmlns:a16="http://schemas.microsoft.com/office/drawing/2014/main" val="1591665677"/>
                    </a:ext>
                  </a:extLst>
                </a:gridCol>
              </a:tblGrid>
              <a:tr h="4831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CRY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 LIMIT (FX)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66762"/>
                  </a:ext>
                </a:extLst>
              </a:tr>
              <a:tr h="322117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Perusahaan Otomobil Nasional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Asyraf / Naser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Vendor Financing Scheme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041309"/>
                  </a:ext>
                </a:extLst>
              </a:tr>
              <a:tr h="322117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Vendor Financing Scheme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247944"/>
                  </a:ext>
                </a:extLst>
              </a:tr>
              <a:tr h="161058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Probase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Manufacturing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Mirza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Bank Guarantee 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5,635,000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22,799,210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694853"/>
                  </a:ext>
                </a:extLst>
              </a:tr>
              <a:tr h="161058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4,046,000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779612"/>
                  </a:ext>
                </a:extLst>
              </a:tr>
              <a:tr h="161058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 Resources Holdings Berhad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Mirza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16,184,000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783717"/>
                  </a:ext>
                </a:extLst>
              </a:tr>
              <a:tr h="322117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20,230,000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100918"/>
                  </a:ext>
                </a:extLst>
              </a:tr>
              <a:tr h="161058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PWN Excellence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Mirza / Naser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Watchlist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47,911,173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47,911,173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13,555,706.26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916048"/>
                  </a:ext>
                </a:extLst>
              </a:tr>
              <a:tr h="161058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30,225,000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30,225,000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954837"/>
                  </a:ext>
                </a:extLst>
              </a:tr>
              <a:tr h="161058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SKS Claremont Pty Ltd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Mirza / Naser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13,880,000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854908"/>
                  </a:ext>
                </a:extLst>
              </a:tr>
              <a:tr h="161058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47,192,000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27,934,327.53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83450"/>
                  </a:ext>
                </a:extLst>
              </a:tr>
              <a:tr h="161058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SMH Rail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Asyraf / Naser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Bank Guarantee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32,368,000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161838"/>
                  </a:ext>
                </a:extLst>
              </a:tr>
              <a:tr h="161058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4,890,099.43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691275"/>
                  </a:ext>
                </a:extLst>
              </a:tr>
              <a:tr h="2576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Tabco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Food Services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Nurin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3,886,400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2,973,185.11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957106"/>
                  </a:ext>
                </a:extLst>
              </a:tr>
              <a:tr h="161058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Taiace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Energy Services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Nurin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Watchlist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3,020,000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3,020,000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1,588,536.78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05884"/>
                  </a:ext>
                </a:extLst>
              </a:tr>
              <a:tr h="257693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5186"/>
                  </a:ext>
                </a:extLst>
              </a:tr>
              <a:tr h="4187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Theam Leong Electrical Engineering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Mirza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947874"/>
                  </a:ext>
                </a:extLst>
              </a:tr>
              <a:tr h="2576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Trenergy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Infrastructure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Asyraf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52,610,130.71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665607"/>
                  </a:ext>
                </a:extLst>
              </a:tr>
              <a:tr h="322117">
                <a:tc row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Whitex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Garments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Nurin / Naser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Overseas Project Financing 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60,690,000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43,731,312.66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44225"/>
                  </a:ext>
                </a:extLst>
              </a:tr>
              <a:tr h="161058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8,092,000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8,293,886.42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590825"/>
                  </a:ext>
                </a:extLst>
              </a:tr>
              <a:tr h="161058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20,230,000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19,747,412.99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609706"/>
                  </a:ext>
                </a:extLst>
              </a:tr>
              <a:tr h="161058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68,782,000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67,674,999.92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2432"/>
                  </a:ext>
                </a:extLst>
              </a:tr>
              <a:tr h="2576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1,009,446479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494,311,734.40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466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006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1565-8D57-CD5C-6E60-4A272F6C2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BD3FCA-944B-BF79-EE66-C328053C0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7A1D57-BA0A-F93D-8082-A7EFDCCD8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41A3DB-64D9-CF8A-AF4B-EEC23238AF02}"/>
              </a:ext>
            </a:extLst>
          </p:cNvPr>
          <p:cNvSpPr txBox="1"/>
          <p:nvPr/>
        </p:nvSpPr>
        <p:spPr>
          <a:xfrm>
            <a:off x="-54501" y="166893"/>
            <a:ext cx="1233056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ctr">
              <a:defRPr/>
            </a:pP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PORTFOLIO – </a:t>
            </a: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/>
              </a:rPr>
              <a:t>SPF</a:t>
            </a: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TEAM</a:t>
            </a:r>
            <a:endParaRPr kumimoji="0" lang="en-US" sz="3200" b="1" i="0" u="sng" strike="noStrike" kern="1200" cap="none" spc="0" normalizeH="0" baseline="0" noProof="0">
              <a:ln>
                <a:noFill/>
              </a:ln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F9A41B-A873-1048-B45D-74688365B525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891080"/>
          <a:ext cx="11582399" cy="5270400"/>
        </p:xfrm>
        <a:graphic>
          <a:graphicData uri="http://schemas.openxmlformats.org/drawingml/2006/table">
            <a:tbl>
              <a:tblPr/>
              <a:tblGrid>
                <a:gridCol w="412748">
                  <a:extLst>
                    <a:ext uri="{9D8B030D-6E8A-4147-A177-3AD203B41FA5}">
                      <a16:colId xmlns:a16="http://schemas.microsoft.com/office/drawing/2014/main" val="2515938280"/>
                    </a:ext>
                  </a:extLst>
                </a:gridCol>
                <a:gridCol w="2040206">
                  <a:extLst>
                    <a:ext uri="{9D8B030D-6E8A-4147-A177-3AD203B41FA5}">
                      <a16:colId xmlns:a16="http://schemas.microsoft.com/office/drawing/2014/main" val="3275366026"/>
                    </a:ext>
                  </a:extLst>
                </a:gridCol>
                <a:gridCol w="1217557">
                  <a:extLst>
                    <a:ext uri="{9D8B030D-6E8A-4147-A177-3AD203B41FA5}">
                      <a16:colId xmlns:a16="http://schemas.microsoft.com/office/drawing/2014/main" val="1971008502"/>
                    </a:ext>
                  </a:extLst>
                </a:gridCol>
                <a:gridCol w="1413793">
                  <a:extLst>
                    <a:ext uri="{9D8B030D-6E8A-4147-A177-3AD203B41FA5}">
                      <a16:colId xmlns:a16="http://schemas.microsoft.com/office/drawing/2014/main" val="3387784675"/>
                    </a:ext>
                  </a:extLst>
                </a:gridCol>
                <a:gridCol w="1636729">
                  <a:extLst>
                    <a:ext uri="{9D8B030D-6E8A-4147-A177-3AD203B41FA5}">
                      <a16:colId xmlns:a16="http://schemas.microsoft.com/office/drawing/2014/main" val="3794723492"/>
                    </a:ext>
                  </a:extLst>
                </a:gridCol>
                <a:gridCol w="713646">
                  <a:extLst>
                    <a:ext uri="{9D8B030D-6E8A-4147-A177-3AD203B41FA5}">
                      <a16:colId xmlns:a16="http://schemas.microsoft.com/office/drawing/2014/main" val="4050397444"/>
                    </a:ext>
                  </a:extLst>
                </a:gridCol>
                <a:gridCol w="1311924">
                  <a:extLst>
                    <a:ext uri="{9D8B030D-6E8A-4147-A177-3AD203B41FA5}">
                      <a16:colId xmlns:a16="http://schemas.microsoft.com/office/drawing/2014/main" val="4275245361"/>
                    </a:ext>
                  </a:extLst>
                </a:gridCol>
                <a:gridCol w="1331088">
                  <a:extLst>
                    <a:ext uri="{9D8B030D-6E8A-4147-A177-3AD203B41FA5}">
                      <a16:colId xmlns:a16="http://schemas.microsoft.com/office/drawing/2014/main" val="707714621"/>
                    </a:ext>
                  </a:extLst>
                </a:gridCol>
                <a:gridCol w="1504708">
                  <a:extLst>
                    <a:ext uri="{9D8B030D-6E8A-4147-A177-3AD203B41FA5}">
                      <a16:colId xmlns:a16="http://schemas.microsoft.com/office/drawing/2014/main" val="1591665677"/>
                    </a:ext>
                  </a:extLst>
                </a:gridCol>
              </a:tblGrid>
              <a:tr h="4941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CRY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 LIMIT (FX)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66762"/>
                  </a:ext>
                </a:extLst>
              </a:tr>
              <a:tr h="329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A-T Precision Engineering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Qistina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Active-Watchlist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2,214,160.15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947874"/>
                  </a:ext>
                </a:extLst>
              </a:tr>
              <a:tr h="164700">
                <a:tc row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Bateriku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(M)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Muiz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375949"/>
                  </a:ext>
                </a:extLst>
              </a:tr>
              <a:tr h="16470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959539"/>
                  </a:ext>
                </a:extLst>
              </a:tr>
              <a:tr h="16470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10,000,000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7,737,991.93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81493"/>
                  </a:ext>
                </a:extLst>
              </a:tr>
              <a:tr h="16470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596988"/>
                  </a:ext>
                </a:extLst>
              </a:tr>
              <a:tr h="1647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Bhavani Foods (M)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Qistina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1,166,045.98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155636"/>
                  </a:ext>
                </a:extLst>
              </a:tr>
              <a:tr h="16470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325,528.17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182677"/>
                  </a:ext>
                </a:extLst>
              </a:tr>
              <a:tr h="329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Bio Eneco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Shafuan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847200"/>
                  </a:ext>
                </a:extLst>
              </a:tr>
              <a:tr h="1647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Fabulous Sunview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Muiz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LC -i / TR-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822560"/>
                  </a:ext>
                </a:extLst>
              </a:tr>
              <a:tr h="16470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20,230,000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20,745,212.10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941566"/>
                  </a:ext>
                </a:extLst>
              </a:tr>
              <a:tr h="164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Fathopes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Energy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Shafuan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1,691,640.28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51283"/>
                  </a:ext>
                </a:extLst>
              </a:tr>
              <a:tr h="164700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Gemilang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Coachwork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Shafuan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5,066,579.27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702829"/>
                  </a:ext>
                </a:extLst>
              </a:tr>
              <a:tr h="16470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12,478,186.65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098727"/>
                  </a:ext>
                </a:extLst>
              </a:tr>
              <a:tr h="16470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12,138,000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037184"/>
                  </a:ext>
                </a:extLst>
              </a:tr>
              <a:tr h="1647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Glide Technology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Muiz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1,371,205.50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282912"/>
                  </a:ext>
                </a:extLst>
              </a:tr>
              <a:tr h="16470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2,861,150.27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772929"/>
                  </a:ext>
                </a:extLst>
              </a:tr>
              <a:tr h="1647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Hernan Corporation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Shafuan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Active-Overdue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4,046,000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1,411,783.44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615902"/>
                  </a:ext>
                </a:extLst>
              </a:tr>
              <a:tr h="16470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2,900,000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11,733,400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11,803,390.54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983729"/>
                  </a:ext>
                </a:extLst>
              </a:tr>
              <a:tr h="329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Impact Metal Resources Sdn. Bhd.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Qistina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9,894,974.50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941144"/>
                  </a:ext>
                </a:extLst>
              </a:tr>
              <a:tr h="164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Joyeria Kohinoor Sdn Bhd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Qistina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Watchlist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4,415,177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4,415,177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3,353,798.91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911811"/>
                  </a:ext>
                </a:extLst>
              </a:tr>
              <a:tr h="164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KR Travel &amp; Tours Sdn Bhd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Qistina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Watchlist-Overdue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1,140,192.18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098139"/>
                  </a:ext>
                </a:extLst>
              </a:tr>
              <a:tr h="164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Kyoto Energy Ventures Sdn Bhd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Shafuan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7,896,361.41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098066"/>
                  </a:ext>
                </a:extLst>
              </a:tr>
              <a:tr h="1647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 World Food Industries L.L.C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Muiz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1,618,400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643,466.82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340952"/>
                  </a:ext>
                </a:extLst>
              </a:tr>
              <a:tr h="16470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15,374,800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11,093,787.69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92792"/>
                  </a:ext>
                </a:extLst>
              </a:tr>
              <a:tr h="16470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 World Industries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Muiz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LC -i / TR- i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51284"/>
                  </a:ext>
                </a:extLst>
              </a:tr>
              <a:tr h="16470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9,942,459.25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329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116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FAB9-DD15-31CC-AADE-8EF13E3E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6C3EC90-1E12-B044-0DF7-F99C199FE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7C0EC1-D089-8ACD-A59C-9FA92FA0F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380077-2008-4982-C1E0-616952874893}"/>
              </a:ext>
            </a:extLst>
          </p:cNvPr>
          <p:cNvSpPr txBox="1"/>
          <p:nvPr/>
        </p:nvSpPr>
        <p:spPr>
          <a:xfrm>
            <a:off x="-54501" y="166893"/>
            <a:ext cx="1233056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ctr">
              <a:defRPr/>
            </a:pP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PORTFOLIO – </a:t>
            </a: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/>
              </a:rPr>
              <a:t>SPF</a:t>
            </a: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 TEAM</a:t>
            </a:r>
            <a:endParaRPr kumimoji="0" lang="en-US" sz="3200" b="1" i="0" u="sng" strike="noStrike" kern="1200" cap="none" spc="0" normalizeH="0" baseline="0" noProof="0">
              <a:ln>
                <a:noFill/>
              </a:ln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705C69-B014-1B48-5D21-6EB40EEDB9C8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891079"/>
          <a:ext cx="11582399" cy="5471220"/>
        </p:xfrm>
        <a:graphic>
          <a:graphicData uri="http://schemas.openxmlformats.org/drawingml/2006/table">
            <a:tbl>
              <a:tblPr/>
              <a:tblGrid>
                <a:gridCol w="412748">
                  <a:extLst>
                    <a:ext uri="{9D8B030D-6E8A-4147-A177-3AD203B41FA5}">
                      <a16:colId xmlns:a16="http://schemas.microsoft.com/office/drawing/2014/main" val="2515938280"/>
                    </a:ext>
                  </a:extLst>
                </a:gridCol>
                <a:gridCol w="2040206">
                  <a:extLst>
                    <a:ext uri="{9D8B030D-6E8A-4147-A177-3AD203B41FA5}">
                      <a16:colId xmlns:a16="http://schemas.microsoft.com/office/drawing/2014/main" val="3275366026"/>
                    </a:ext>
                  </a:extLst>
                </a:gridCol>
                <a:gridCol w="1217557">
                  <a:extLst>
                    <a:ext uri="{9D8B030D-6E8A-4147-A177-3AD203B41FA5}">
                      <a16:colId xmlns:a16="http://schemas.microsoft.com/office/drawing/2014/main" val="1971008502"/>
                    </a:ext>
                  </a:extLst>
                </a:gridCol>
                <a:gridCol w="1413793">
                  <a:extLst>
                    <a:ext uri="{9D8B030D-6E8A-4147-A177-3AD203B41FA5}">
                      <a16:colId xmlns:a16="http://schemas.microsoft.com/office/drawing/2014/main" val="3387784675"/>
                    </a:ext>
                  </a:extLst>
                </a:gridCol>
                <a:gridCol w="1636729">
                  <a:extLst>
                    <a:ext uri="{9D8B030D-6E8A-4147-A177-3AD203B41FA5}">
                      <a16:colId xmlns:a16="http://schemas.microsoft.com/office/drawing/2014/main" val="3794723492"/>
                    </a:ext>
                  </a:extLst>
                </a:gridCol>
                <a:gridCol w="713646">
                  <a:extLst>
                    <a:ext uri="{9D8B030D-6E8A-4147-A177-3AD203B41FA5}">
                      <a16:colId xmlns:a16="http://schemas.microsoft.com/office/drawing/2014/main" val="4050397444"/>
                    </a:ext>
                  </a:extLst>
                </a:gridCol>
                <a:gridCol w="1311924">
                  <a:extLst>
                    <a:ext uri="{9D8B030D-6E8A-4147-A177-3AD203B41FA5}">
                      <a16:colId xmlns:a16="http://schemas.microsoft.com/office/drawing/2014/main" val="4275245361"/>
                    </a:ext>
                  </a:extLst>
                </a:gridCol>
                <a:gridCol w="1331088">
                  <a:extLst>
                    <a:ext uri="{9D8B030D-6E8A-4147-A177-3AD203B41FA5}">
                      <a16:colId xmlns:a16="http://schemas.microsoft.com/office/drawing/2014/main" val="707714621"/>
                    </a:ext>
                  </a:extLst>
                </a:gridCol>
                <a:gridCol w="1504708">
                  <a:extLst>
                    <a:ext uri="{9D8B030D-6E8A-4147-A177-3AD203B41FA5}">
                      <a16:colId xmlns:a16="http://schemas.microsoft.com/office/drawing/2014/main" val="1591665677"/>
                    </a:ext>
                  </a:extLst>
                </a:gridCol>
              </a:tblGrid>
              <a:tr h="5471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CRY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 LIMIT (FX)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66762"/>
                  </a:ext>
                </a:extLst>
              </a:tr>
              <a:tr h="182374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Marrybrown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Australia Pty Ltd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Shafuan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2,175,325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6,038,702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5,467,306.38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152368"/>
                  </a:ext>
                </a:extLst>
              </a:tr>
              <a:tr h="182374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124,675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346,098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7146"/>
                  </a:ext>
                </a:extLst>
              </a:tr>
              <a:tr h="1823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Marrybrown Deer Park Pty Ltd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Shafuan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325,000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902,200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794,867.46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056480"/>
                  </a:ext>
                </a:extLst>
              </a:tr>
              <a:tr h="1823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18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Mb Burwood Pty Ltd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Shafuan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1,249,200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1,099,790.10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13420"/>
                  </a:ext>
                </a:extLst>
              </a:tr>
              <a:tr h="1823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19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Mb Melbourne Central Pty Ltd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Shafuan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425,000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1,179,800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1,031,543.11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619480"/>
                  </a:ext>
                </a:extLst>
              </a:tr>
              <a:tr h="1823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Master Suppliers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Qistina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880,970.58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850231"/>
                  </a:ext>
                </a:extLst>
              </a:tr>
              <a:tr h="3647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Pusan Furniture Industries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Qistina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5,082,776.64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650508"/>
                  </a:ext>
                </a:extLst>
              </a:tr>
              <a:tr h="182374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Purebleach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Qistina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371,766.43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968630"/>
                  </a:ext>
                </a:extLst>
              </a:tr>
              <a:tr h="182374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Active-Overdue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14,587.32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259863"/>
                  </a:ext>
                </a:extLst>
              </a:tr>
              <a:tr h="182374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Rinoca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Muiz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1,213,800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29711"/>
                  </a:ext>
                </a:extLst>
              </a:tr>
              <a:tr h="182374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6,878,200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5,988,058.27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971821"/>
                  </a:ext>
                </a:extLst>
              </a:tr>
              <a:tr h="182374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Rizman Ruzaini Creations (M)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Muiz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Active-Watchlist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998,942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998,942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1,018,193.38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79066"/>
                  </a:ext>
                </a:extLst>
              </a:tr>
              <a:tr h="182374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Active-Watchlist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1,781,269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1,781,269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1,619,879.74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543998"/>
                  </a:ext>
                </a:extLst>
              </a:tr>
              <a:tr h="182374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Sage Promaster Sdn Bhd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Muiz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637,662.31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991817"/>
                  </a:ext>
                </a:extLst>
              </a:tr>
              <a:tr h="182374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805,623.16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329327"/>
                  </a:ext>
                </a:extLst>
              </a:tr>
              <a:tr h="1823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SB Goals Berhad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Muiz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685088"/>
                  </a:ext>
                </a:extLst>
              </a:tr>
              <a:tr h="182374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27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Siti Khadijah Apparel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Muiz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1,900,000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1,900,000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1,190,603.82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87157"/>
                  </a:ext>
                </a:extLst>
              </a:tr>
              <a:tr h="182374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8,267,605.39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662187"/>
                  </a:ext>
                </a:extLst>
              </a:tr>
              <a:tr h="3647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Southeast Asia Fruits Industry Sdn Bhd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Shafuan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2,733,944.28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689643"/>
                  </a:ext>
                </a:extLst>
              </a:tr>
              <a:tr h="1823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29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Tristar Global Sdn. Bhd.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Muiz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1,428,400.21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162913"/>
                  </a:ext>
                </a:extLst>
              </a:tr>
              <a:tr h="1823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UB Acrylic (M) Sdn Bhd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Muiz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364,093.02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664489"/>
                  </a:ext>
                </a:extLst>
              </a:tr>
              <a:tr h="3647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Well-built Alloy Industries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Muiz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4,972,339.75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835465"/>
                  </a:ext>
                </a:extLst>
              </a:tr>
              <a:tr h="1823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Zaid Ibrahim &amp; Co.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Qistina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8,132,978.29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696195"/>
                  </a:ext>
                </a:extLst>
              </a:tr>
              <a:tr h="1823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310,543,987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169,502,434.45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487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899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21E83-EBBC-A8C0-3AAF-107A6D317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A51ADB-91D4-BD71-BA1D-EEEFD0BCB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29E495-E684-8364-669E-3025E9D0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1ADDE4-B224-3E8F-1B6F-8D3C9230B56D}"/>
              </a:ext>
            </a:extLst>
          </p:cNvPr>
          <p:cNvSpPr txBox="1"/>
          <p:nvPr/>
        </p:nvSpPr>
        <p:spPr>
          <a:xfrm>
            <a:off x="-54501" y="166893"/>
            <a:ext cx="1233056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PORTFOLIO – RON TEAM</a:t>
            </a:r>
            <a:endParaRPr kumimoji="0" lang="en-US" sz="3200" b="1" i="0" u="sng" strike="noStrike" kern="1200" cap="none" spc="0" normalizeH="0" baseline="0" noProof="0">
              <a:ln>
                <a:noFill/>
              </a:ln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026CF4-2C30-6ABC-E064-44908F592F0A}"/>
              </a:ext>
            </a:extLst>
          </p:cNvPr>
          <p:cNvGraphicFramePr>
            <a:graphicFrameLocks noGrp="1"/>
          </p:cNvGraphicFramePr>
          <p:nvPr/>
        </p:nvGraphicFramePr>
        <p:xfrm>
          <a:off x="319582" y="908313"/>
          <a:ext cx="11582399" cy="5380727"/>
        </p:xfrm>
        <a:graphic>
          <a:graphicData uri="http://schemas.openxmlformats.org/drawingml/2006/table">
            <a:tbl>
              <a:tblPr/>
              <a:tblGrid>
                <a:gridCol w="412748">
                  <a:extLst>
                    <a:ext uri="{9D8B030D-6E8A-4147-A177-3AD203B41FA5}">
                      <a16:colId xmlns:a16="http://schemas.microsoft.com/office/drawing/2014/main" val="2515938280"/>
                    </a:ext>
                  </a:extLst>
                </a:gridCol>
                <a:gridCol w="2183590">
                  <a:extLst>
                    <a:ext uri="{9D8B030D-6E8A-4147-A177-3AD203B41FA5}">
                      <a16:colId xmlns:a16="http://schemas.microsoft.com/office/drawing/2014/main" val="3275366026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197100850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3387784675"/>
                    </a:ext>
                  </a:extLst>
                </a:gridCol>
                <a:gridCol w="1341439">
                  <a:extLst>
                    <a:ext uri="{9D8B030D-6E8A-4147-A177-3AD203B41FA5}">
                      <a16:colId xmlns:a16="http://schemas.microsoft.com/office/drawing/2014/main" val="3794723492"/>
                    </a:ext>
                  </a:extLst>
                </a:gridCol>
                <a:gridCol w="1015681">
                  <a:extLst>
                    <a:ext uri="{9D8B030D-6E8A-4147-A177-3AD203B41FA5}">
                      <a16:colId xmlns:a16="http://schemas.microsoft.com/office/drawing/2014/main" val="405039744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275245361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707714621"/>
                    </a:ext>
                  </a:extLst>
                </a:gridCol>
                <a:gridCol w="1447341">
                  <a:extLst>
                    <a:ext uri="{9D8B030D-6E8A-4147-A177-3AD203B41FA5}">
                      <a16:colId xmlns:a16="http://schemas.microsoft.com/office/drawing/2014/main" val="1591665677"/>
                    </a:ext>
                  </a:extLst>
                </a:gridCol>
              </a:tblGrid>
              <a:tr h="49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CURRENCY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 LIMIT (FX)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66762"/>
                  </a:ext>
                </a:extLst>
              </a:tr>
              <a:tr h="164045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Aemulus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Corporation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Thanni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3,938,466.76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6670"/>
                  </a:ext>
                </a:extLst>
              </a:tr>
              <a:tr h="328092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77737"/>
                  </a:ext>
                </a:extLst>
              </a:tr>
              <a:tr h="1642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AMC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Cincaria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Dazman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3,122,890.85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011815"/>
                  </a:ext>
                </a:extLst>
              </a:tr>
              <a:tr h="164045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Ann Joo Integrated Steel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Dazman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LC -i / TR- 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283169"/>
                  </a:ext>
                </a:extLst>
              </a:tr>
              <a:tr h="164045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54924"/>
                  </a:ext>
                </a:extLst>
              </a:tr>
              <a:tr h="1640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Bertambest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Dazman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US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152,070.94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944164"/>
                  </a:ext>
                </a:extLst>
              </a:tr>
              <a:tr h="164045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Coco Oro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Jewellery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Dazman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1,714,866.24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59145"/>
                  </a:ext>
                </a:extLst>
              </a:tr>
              <a:tr h="164045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7,918,524.63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306124"/>
                  </a:ext>
                </a:extLst>
              </a:tr>
              <a:tr h="164045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Confast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Mobile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Dazman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1,504,422.78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709846"/>
                  </a:ext>
                </a:extLst>
              </a:tr>
              <a:tr h="164045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3,709,376.97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954523"/>
                  </a:ext>
                </a:extLst>
              </a:tr>
              <a:tr h="164045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FR Development Asia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Dazman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1,022,625.87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729625"/>
                  </a:ext>
                </a:extLst>
              </a:tr>
              <a:tr h="164045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3,870,218.72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478408"/>
                  </a:ext>
                </a:extLst>
              </a:tr>
              <a:tr h="1640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JFC Food Industries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Thanni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Watchlist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2,146,339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2,146,339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1,849,059.24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470936"/>
                  </a:ext>
                </a:extLst>
              </a:tr>
              <a:tr h="3280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Klitz Vibrant Imported Kitchens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Thanni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US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113,493.09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356475"/>
                  </a:ext>
                </a:extLst>
              </a:tr>
              <a:tr h="1640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Pipesway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Furniture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Thanni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US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402,560.44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418973"/>
                  </a:ext>
                </a:extLst>
              </a:tr>
              <a:tr h="164045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Radysis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Asia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Dazman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85964"/>
                  </a:ext>
                </a:extLst>
              </a:tr>
              <a:tr h="164045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648599"/>
                  </a:ext>
                </a:extLst>
              </a:tr>
              <a:tr h="164045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080888"/>
                  </a:ext>
                </a:extLst>
              </a:tr>
              <a:tr h="32809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Thai Aroi Rice Vermicelli Company Limited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Dazman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1,213,800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                                      - 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315160"/>
                  </a:ext>
                </a:extLst>
              </a:tr>
              <a:tr h="328092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                               3,500,000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          2,869,711.83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653550"/>
                  </a:ext>
                </a:extLst>
              </a:tr>
              <a:tr h="32809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YBS International Berhad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Dazman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Overseas Investment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26,600,000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107,623,600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       84,399,639.14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001713"/>
                  </a:ext>
                </a:extLst>
              </a:tr>
              <a:tr h="334457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Revolving-i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5,000,000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20,230,000 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509780"/>
                  </a:ext>
                </a:extLst>
              </a:tr>
              <a:tr h="2887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  TOTAL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245,713,739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119,767,722.13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52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76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0560-CE3D-E94C-526F-09B65E3B2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D69F12-7BF3-D7DF-CD7E-9ADD59DC1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09BD75-F701-067F-3E98-BE21811F9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43917E-3673-A6FE-E6B2-CF57623FC767}"/>
              </a:ext>
            </a:extLst>
          </p:cNvPr>
          <p:cNvSpPr txBox="1"/>
          <p:nvPr/>
        </p:nvSpPr>
        <p:spPr>
          <a:xfrm>
            <a:off x="-54501" y="166893"/>
            <a:ext cx="1233056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PORTFOLIO – ROS TEAM</a:t>
            </a:r>
            <a:endParaRPr kumimoji="0" lang="en-US" sz="3200" b="1" i="0" u="sng" strike="noStrike" kern="1200" cap="none" spc="0" normalizeH="0" baseline="0" noProof="0">
              <a:ln>
                <a:noFill/>
              </a:ln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F7BF73-B3CC-9785-A561-9A51C94A4C66}"/>
              </a:ext>
            </a:extLst>
          </p:cNvPr>
          <p:cNvGraphicFramePr>
            <a:graphicFrameLocks noGrp="1"/>
          </p:cNvGraphicFramePr>
          <p:nvPr/>
        </p:nvGraphicFramePr>
        <p:xfrm>
          <a:off x="319582" y="914228"/>
          <a:ext cx="11582399" cy="4145280"/>
        </p:xfrm>
        <a:graphic>
          <a:graphicData uri="http://schemas.openxmlformats.org/drawingml/2006/table">
            <a:tbl>
              <a:tblPr/>
              <a:tblGrid>
                <a:gridCol w="412748">
                  <a:extLst>
                    <a:ext uri="{9D8B030D-6E8A-4147-A177-3AD203B41FA5}">
                      <a16:colId xmlns:a16="http://schemas.microsoft.com/office/drawing/2014/main" val="2515938280"/>
                    </a:ext>
                  </a:extLst>
                </a:gridCol>
                <a:gridCol w="2061670">
                  <a:extLst>
                    <a:ext uri="{9D8B030D-6E8A-4147-A177-3AD203B41FA5}">
                      <a16:colId xmlns:a16="http://schemas.microsoft.com/office/drawing/2014/main" val="3275366026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19710085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387784675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794723492"/>
                    </a:ext>
                  </a:extLst>
                </a:gridCol>
                <a:gridCol w="926741">
                  <a:extLst>
                    <a:ext uri="{9D8B030D-6E8A-4147-A177-3AD203B41FA5}">
                      <a16:colId xmlns:a16="http://schemas.microsoft.com/office/drawing/2014/main" val="4050397444"/>
                    </a:ext>
                  </a:extLst>
                </a:gridCol>
                <a:gridCol w="1338939">
                  <a:extLst>
                    <a:ext uri="{9D8B030D-6E8A-4147-A177-3AD203B41FA5}">
                      <a16:colId xmlns:a16="http://schemas.microsoft.com/office/drawing/2014/main" val="4275245361"/>
                    </a:ext>
                  </a:extLst>
                </a:gridCol>
                <a:gridCol w="1239520">
                  <a:extLst>
                    <a:ext uri="{9D8B030D-6E8A-4147-A177-3AD203B41FA5}">
                      <a16:colId xmlns:a16="http://schemas.microsoft.com/office/drawing/2014/main" val="707714621"/>
                    </a:ext>
                  </a:extLst>
                </a:gridCol>
                <a:gridCol w="1569261">
                  <a:extLst>
                    <a:ext uri="{9D8B030D-6E8A-4147-A177-3AD203B41FA5}">
                      <a16:colId xmlns:a16="http://schemas.microsoft.com/office/drawing/2014/main" val="1591665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CURRENCY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 LIMIT (FX)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6676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Evergreen Fibreboard Berhad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Soleha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Bank Guarantee-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667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9,184,392.32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777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US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011815"/>
                  </a:ext>
                </a:extLst>
              </a:tr>
              <a:tr h="127000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Ignis</a:t>
                      </a:r>
                      <a:r>
                        <a:rPr lang="fr-FR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</a:t>
                      </a:r>
                      <a:r>
                        <a:rPr lang="fr-FR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Initiatives </a:t>
                      </a:r>
                      <a:r>
                        <a:rPr lang="fr-FR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fr-FR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fr-FR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fr-FR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Yuzni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503,271.23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28316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18,484,577.47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549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94416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Ignis Group Berhad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Yuzni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1,500,567.95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591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24,448,000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24,448,000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22,034,204.11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306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Kennwu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Manufacturing (M)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Soleha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Watchlist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2,465,535.59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709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Tanjong Agas Port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Yuzni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954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YH Polymer Sdn. Bhd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Yuzni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Watchlist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5,825,994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5,825,994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4,871,803.00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729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b="1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109,273,994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59,044,351.67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628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281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B82CE-B640-644E-72F4-3D094651F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D3A6D0A-4347-C7DB-31E6-31100BDF0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9053C2-447D-7CE9-B1F1-2C51B5C4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E5EF1-2686-3970-8AB3-3EA842F57C30}"/>
              </a:ext>
            </a:extLst>
          </p:cNvPr>
          <p:cNvSpPr txBox="1"/>
          <p:nvPr/>
        </p:nvSpPr>
        <p:spPr>
          <a:xfrm>
            <a:off x="-54501" y="166893"/>
            <a:ext cx="1233056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PORTFOLIO – EMRO TEAM</a:t>
            </a:r>
            <a:endParaRPr kumimoji="0" lang="en-US" sz="3200" b="1" i="0" u="sng" strike="noStrike" kern="1200" cap="none" spc="0" normalizeH="0" baseline="0" noProof="0">
              <a:ln>
                <a:noFill/>
              </a:ln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8E6BF6-7FC8-33EF-6A09-A1B395CECBF4}"/>
              </a:ext>
            </a:extLst>
          </p:cNvPr>
          <p:cNvGraphicFramePr>
            <a:graphicFrameLocks noGrp="1"/>
          </p:cNvGraphicFramePr>
          <p:nvPr/>
        </p:nvGraphicFramePr>
        <p:xfrm>
          <a:off x="319582" y="914228"/>
          <a:ext cx="11582399" cy="3901440"/>
        </p:xfrm>
        <a:graphic>
          <a:graphicData uri="http://schemas.openxmlformats.org/drawingml/2006/table">
            <a:tbl>
              <a:tblPr/>
              <a:tblGrid>
                <a:gridCol w="412748">
                  <a:extLst>
                    <a:ext uri="{9D8B030D-6E8A-4147-A177-3AD203B41FA5}">
                      <a16:colId xmlns:a16="http://schemas.microsoft.com/office/drawing/2014/main" val="2515938280"/>
                    </a:ext>
                  </a:extLst>
                </a:gridCol>
                <a:gridCol w="2040206">
                  <a:extLst>
                    <a:ext uri="{9D8B030D-6E8A-4147-A177-3AD203B41FA5}">
                      <a16:colId xmlns:a16="http://schemas.microsoft.com/office/drawing/2014/main" val="3275366026"/>
                    </a:ext>
                  </a:extLst>
                </a:gridCol>
                <a:gridCol w="1217557">
                  <a:extLst>
                    <a:ext uri="{9D8B030D-6E8A-4147-A177-3AD203B41FA5}">
                      <a16:colId xmlns:a16="http://schemas.microsoft.com/office/drawing/2014/main" val="1971008502"/>
                    </a:ext>
                  </a:extLst>
                </a:gridCol>
                <a:gridCol w="1516627">
                  <a:extLst>
                    <a:ext uri="{9D8B030D-6E8A-4147-A177-3AD203B41FA5}">
                      <a16:colId xmlns:a16="http://schemas.microsoft.com/office/drawing/2014/main" val="3387784675"/>
                    </a:ext>
                  </a:extLst>
                </a:gridCol>
                <a:gridCol w="1391920">
                  <a:extLst>
                    <a:ext uri="{9D8B030D-6E8A-4147-A177-3AD203B41FA5}">
                      <a16:colId xmlns:a16="http://schemas.microsoft.com/office/drawing/2014/main" val="379472349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4050397444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4275245361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707714621"/>
                    </a:ext>
                  </a:extLst>
                </a:gridCol>
                <a:gridCol w="1528621">
                  <a:extLst>
                    <a:ext uri="{9D8B030D-6E8A-4147-A177-3AD203B41FA5}">
                      <a16:colId xmlns:a16="http://schemas.microsoft.com/office/drawing/2014/main" val="1591665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RM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CURRENCY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FACILITY LIMIT (FX)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6676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Angsana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Jaya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Patrick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Revolving-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667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3,200,000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12,947,200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777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Term Financing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01181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Bjornskar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Hyttefelt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Patrick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Overseas Project Financing  -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EUR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6,958,950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28316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Revolving Credit -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US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EUR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3,015,545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54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Choon Eng (Sarawak)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sdn.Bhd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Patrick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5,714,296.47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944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Enapak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Packaging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Bhd.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Patrick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59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Saragreen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Fhairoldillah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Watchlist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9,397,149.88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306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Shian Liang Petroleum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Patrick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Pending Disbursement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000" b="0" i="0" u="none" strike="noStrike" kern="1200">
                        <a:solidFill>
                          <a:srgbClr val="0020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709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Sunnite Timur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Sdn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Bhd</a:t>
                      </a: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Patrick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Supplier Financing - </a:t>
                      </a:r>
                      <a:r>
                        <a:rPr lang="en-US" sz="1000" b="0" i="0" u="none" strike="noStrike" kern="120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MYR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000" b="0" i="0" u="none" strike="noStrike" kern="120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954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  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0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66,721,695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0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cs typeface="Arial" panose="020B0604020202020204" pitchFamily="34" charset="0"/>
                        </a:rPr>
                        <a:t>15,111,446.35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628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331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74D23-FB43-BC9E-D8AC-2919B7E1A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F2BDCA-1585-B2D7-1D3C-21496D2E5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EC38FC-B690-3434-44FF-6CF6DF1A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477757-D974-CFC7-4475-E6A9B33FED76}"/>
              </a:ext>
            </a:extLst>
          </p:cNvPr>
          <p:cNvSpPr txBox="1"/>
          <p:nvPr/>
        </p:nvSpPr>
        <p:spPr>
          <a:xfrm>
            <a:off x="-54501" y="166893"/>
            <a:ext cx="1233056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u="sng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TOP 10 ACTIVE CUSTOMERS</a:t>
            </a:r>
            <a:endParaRPr kumimoji="0" lang="en-US" sz="3200" b="1" i="0" u="sng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2D6E30-D599-B178-2825-8B59A5EA3A8F}"/>
              </a:ext>
            </a:extLst>
          </p:cNvPr>
          <p:cNvGraphicFramePr>
            <a:graphicFrameLocks noGrp="1"/>
          </p:cNvGraphicFramePr>
          <p:nvPr/>
        </p:nvGraphicFramePr>
        <p:xfrm>
          <a:off x="1088998" y="896889"/>
          <a:ext cx="10043568" cy="2225040"/>
        </p:xfrm>
        <a:graphic>
          <a:graphicData uri="http://schemas.openxmlformats.org/drawingml/2006/table">
            <a:tbl>
              <a:tblPr/>
              <a:tblGrid>
                <a:gridCol w="586179">
                  <a:extLst>
                    <a:ext uri="{9D8B030D-6E8A-4147-A177-3AD203B41FA5}">
                      <a16:colId xmlns:a16="http://schemas.microsoft.com/office/drawing/2014/main" val="2515938280"/>
                    </a:ext>
                  </a:extLst>
                </a:gridCol>
                <a:gridCol w="5019393">
                  <a:extLst>
                    <a:ext uri="{9D8B030D-6E8A-4147-A177-3AD203B41FA5}">
                      <a16:colId xmlns:a16="http://schemas.microsoft.com/office/drawing/2014/main" val="3275366026"/>
                    </a:ext>
                  </a:extLst>
                </a:gridCol>
                <a:gridCol w="2218998">
                  <a:extLst>
                    <a:ext uri="{9D8B030D-6E8A-4147-A177-3AD203B41FA5}">
                      <a16:colId xmlns:a16="http://schemas.microsoft.com/office/drawing/2014/main" val="707714621"/>
                    </a:ext>
                  </a:extLst>
                </a:gridCol>
                <a:gridCol w="2218998">
                  <a:extLst>
                    <a:ext uri="{9D8B030D-6E8A-4147-A177-3AD203B41FA5}">
                      <a16:colId xmlns:a16="http://schemas.microsoft.com/office/drawing/2014/main" val="1591665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 (CORPORATE BANKING)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(as of March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66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KIAN JOO CANS DISTRIBUTION SDN BHD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250,000,000.00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231,918,951.65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6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OM MATERIALS (SARAWAK) SDN BHD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323,220,000.00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199,711,181.90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77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BERJAYA OKINAWA INVESTMENT (S) PTE LTD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283,220,000.00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158,262,743.34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011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DUTA MARINE SDN. BHD.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149,702,000.00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146,401,339.91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283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THE MINISTRY OF FINANCE GOVERNMENT OF LAO PDR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283,220,000.00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135,889,742.62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54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PERTAMA FERROALLOYS SDN. BHD.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239,300,000.00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132,982,475.20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944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AMCORP PROPERTIES BERHAD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141,658,400.00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113,217,044.65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59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KOOKA PAPER MANUFACTURING SDN. BHD.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121,380,000.00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98,974,946.22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306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BUMI ARMADA HOLDINGS LABUAN LIMITED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161,840,000.00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78,870,548.14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709846"/>
                  </a:ext>
                </a:extLst>
              </a:tr>
              <a:tr h="784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AGRO 19 BERHAD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102,138,000.00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71,863,582.54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954523"/>
                  </a:ext>
                </a:extLst>
              </a:tr>
              <a:tr h="1338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2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MY" sz="1100" b="1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1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2,055,678,400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1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463,426,593.56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6282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0A2A28-1B92-B292-ADDC-8E6CE39455BA}"/>
              </a:ext>
            </a:extLst>
          </p:cNvPr>
          <p:cNvGraphicFramePr>
            <a:graphicFrameLocks noGrp="1"/>
          </p:cNvGraphicFramePr>
          <p:nvPr/>
        </p:nvGraphicFramePr>
        <p:xfrm>
          <a:off x="1088998" y="3335289"/>
          <a:ext cx="10043568" cy="2286000"/>
        </p:xfrm>
        <a:graphic>
          <a:graphicData uri="http://schemas.openxmlformats.org/drawingml/2006/table">
            <a:tbl>
              <a:tblPr/>
              <a:tblGrid>
                <a:gridCol w="586179">
                  <a:extLst>
                    <a:ext uri="{9D8B030D-6E8A-4147-A177-3AD203B41FA5}">
                      <a16:colId xmlns:a16="http://schemas.microsoft.com/office/drawing/2014/main" val="2515938280"/>
                    </a:ext>
                  </a:extLst>
                </a:gridCol>
                <a:gridCol w="5019393">
                  <a:extLst>
                    <a:ext uri="{9D8B030D-6E8A-4147-A177-3AD203B41FA5}">
                      <a16:colId xmlns:a16="http://schemas.microsoft.com/office/drawing/2014/main" val="3275366026"/>
                    </a:ext>
                  </a:extLst>
                </a:gridCol>
                <a:gridCol w="2218998">
                  <a:extLst>
                    <a:ext uri="{9D8B030D-6E8A-4147-A177-3AD203B41FA5}">
                      <a16:colId xmlns:a16="http://schemas.microsoft.com/office/drawing/2014/main" val="707714621"/>
                    </a:ext>
                  </a:extLst>
                </a:gridCol>
                <a:gridCol w="2218998">
                  <a:extLst>
                    <a:ext uri="{9D8B030D-6E8A-4147-A177-3AD203B41FA5}">
                      <a16:colId xmlns:a16="http://schemas.microsoft.com/office/drawing/2014/main" val="1591665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 (COMMERCIAL BANKING)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(as of March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66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WHITEX GARMENTS SDN BHD</a:t>
                      </a:r>
                    </a:p>
                  </a:txBody>
                  <a:tcPr marL="7200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153,582,000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138,922,360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6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INGRESS INDUSTRIAL (MALAYSIA) SDN BHD</a:t>
                      </a:r>
                    </a:p>
                  </a:txBody>
                  <a:tcPr marL="7200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165,752,000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116,000,142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77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MALAYSIA STEEL WORKS (KL) BERHAD </a:t>
                      </a:r>
                    </a:p>
                  </a:txBody>
                  <a:tcPr marL="7200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50,000,000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50,210,121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011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TRENERGY INFRASTRUCTURE SDN BHD</a:t>
                      </a:r>
                    </a:p>
                  </a:txBody>
                  <a:tcPr marL="7200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71,000,000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40,700,911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283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MEWAH-OILS SDN. BHD.</a:t>
                      </a:r>
                    </a:p>
                  </a:txBody>
                  <a:tcPr marL="7200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50,000,000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30,176,502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54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SKS CLAREMONT PTY LTD</a:t>
                      </a:r>
                    </a:p>
                  </a:txBody>
                  <a:tcPr marL="7200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46,896,200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19,378,324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944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MHC COLDSTORAGE SDN BHD</a:t>
                      </a:r>
                    </a:p>
                  </a:txBody>
                  <a:tcPr marL="7200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23,000,000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16,662,811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59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HYRAX OIL SDN BHD</a:t>
                      </a:r>
                    </a:p>
                  </a:txBody>
                  <a:tcPr marL="7200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20,110,562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15,535,304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306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JLAND AUSTRALIA PTY LTD</a:t>
                      </a:r>
                    </a:p>
                  </a:txBody>
                  <a:tcPr marL="7200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15,448,160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14,404,917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709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PWN EXCELLENCE SDN BHD</a:t>
                      </a:r>
                    </a:p>
                  </a:txBody>
                  <a:tcPr marL="7200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47,911,173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14,005,215 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954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MY" sz="1100" b="0" i="0" u="none" strike="noStrike" kern="120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1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TOTAL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1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643,700,095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1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455,996,609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628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725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7CC84-0095-2C2B-2B5C-1564600DC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B4FB50-AAA0-CC48-5691-930A8200D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D5299A-C5CD-8F72-B62D-0422D582B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14239-1DCC-BE29-EE55-1857F4E45E7F}"/>
              </a:ext>
            </a:extLst>
          </p:cNvPr>
          <p:cNvSpPr txBox="1"/>
          <p:nvPr/>
        </p:nvSpPr>
        <p:spPr>
          <a:xfrm>
            <a:off x="-54501" y="166893"/>
            <a:ext cx="1233056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u="sng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TOP 10 ACTIVE CUSTOMERS</a:t>
            </a:r>
            <a:endParaRPr kumimoji="0" lang="en-US" sz="3200" b="1" i="0" u="sng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8B32BA1-5854-FD0A-8E59-F98AEE5192AA}"/>
              </a:ext>
            </a:extLst>
          </p:cNvPr>
          <p:cNvGraphicFramePr>
            <a:graphicFrameLocks noGrp="1"/>
          </p:cNvGraphicFramePr>
          <p:nvPr/>
        </p:nvGraphicFramePr>
        <p:xfrm>
          <a:off x="1074216" y="3629598"/>
          <a:ext cx="10043568" cy="2209800"/>
        </p:xfrm>
        <a:graphic>
          <a:graphicData uri="http://schemas.openxmlformats.org/drawingml/2006/table">
            <a:tbl>
              <a:tblPr/>
              <a:tblGrid>
                <a:gridCol w="591568">
                  <a:extLst>
                    <a:ext uri="{9D8B030D-6E8A-4147-A177-3AD203B41FA5}">
                      <a16:colId xmlns:a16="http://schemas.microsoft.com/office/drawing/2014/main" val="2515938280"/>
                    </a:ext>
                  </a:extLst>
                </a:gridCol>
                <a:gridCol w="4980776">
                  <a:extLst>
                    <a:ext uri="{9D8B030D-6E8A-4147-A177-3AD203B41FA5}">
                      <a16:colId xmlns:a16="http://schemas.microsoft.com/office/drawing/2014/main" val="3275366026"/>
                    </a:ext>
                  </a:extLst>
                </a:gridCol>
                <a:gridCol w="2235612">
                  <a:extLst>
                    <a:ext uri="{9D8B030D-6E8A-4147-A177-3AD203B41FA5}">
                      <a16:colId xmlns:a16="http://schemas.microsoft.com/office/drawing/2014/main" val="707714621"/>
                    </a:ext>
                  </a:extLst>
                </a:gridCol>
                <a:gridCol w="2235612">
                  <a:extLst>
                    <a:ext uri="{9D8B030D-6E8A-4147-A177-3AD203B41FA5}">
                      <a16:colId xmlns:a16="http://schemas.microsoft.com/office/drawing/2014/main" val="2551784581"/>
                    </a:ext>
                  </a:extLst>
                </a:gridCol>
              </a:tblGrid>
              <a:tr h="20563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 (REGIONAL OFFICES)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(as of March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66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YBS INTERNATIONAL BERHAD 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127,853,600.00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84,399,639.14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6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IGNIS GROUP BERHAD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25,948,000.00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23,534,772.06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77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fr-FR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IGNIS ENVIRONMENT INITIATIVES SDN. BHD.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26,500,000.00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18,987,848.70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011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COCO ORO JEWELLERY SDN BHD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10,000,000.00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9,633,390.87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283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SARAGREEN SDN BHD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10,000,000.00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9,397,149.88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54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EVERGREEN FIBREBOARD BERHAD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30,000,000.00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9,184,392.32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944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CHOON ENG (SARAWAK)SDN.BHD.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7,000,000.00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5,714,296.47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59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CONFAST MOBILE SDN BHD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5,500,000.00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5,213,799.75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306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FR DEVELOPMENT ASIA SDN. BHD.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5,000,000.00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4,892,844.59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709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YH POLYMER SDN. BHD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5,825,994.12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4,871,803.00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954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MY" sz="1100" b="0" i="0" u="none" strike="noStrike" kern="120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MY" sz="1100" b="1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b="1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253,627,594.12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MY" sz="1100" b="1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175,829,936.78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6282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D7C4F3-E530-B6F1-AB2E-97EB794DBA2D}"/>
              </a:ext>
            </a:extLst>
          </p:cNvPr>
          <p:cNvGraphicFramePr>
            <a:graphicFrameLocks noGrp="1"/>
          </p:cNvGraphicFramePr>
          <p:nvPr/>
        </p:nvGraphicFramePr>
        <p:xfrm>
          <a:off x="1074216" y="1059118"/>
          <a:ext cx="10043568" cy="2225040"/>
        </p:xfrm>
        <a:graphic>
          <a:graphicData uri="http://schemas.openxmlformats.org/drawingml/2006/table">
            <a:tbl>
              <a:tblPr/>
              <a:tblGrid>
                <a:gridCol w="591568">
                  <a:extLst>
                    <a:ext uri="{9D8B030D-6E8A-4147-A177-3AD203B41FA5}">
                      <a16:colId xmlns:a16="http://schemas.microsoft.com/office/drawing/2014/main" val="2515938280"/>
                    </a:ext>
                  </a:extLst>
                </a:gridCol>
                <a:gridCol w="4980776">
                  <a:extLst>
                    <a:ext uri="{9D8B030D-6E8A-4147-A177-3AD203B41FA5}">
                      <a16:colId xmlns:a16="http://schemas.microsoft.com/office/drawing/2014/main" val="3275366026"/>
                    </a:ext>
                  </a:extLst>
                </a:gridCol>
                <a:gridCol w="2235612">
                  <a:extLst>
                    <a:ext uri="{9D8B030D-6E8A-4147-A177-3AD203B41FA5}">
                      <a16:colId xmlns:a16="http://schemas.microsoft.com/office/drawing/2014/main" val="707714621"/>
                    </a:ext>
                  </a:extLst>
                </a:gridCol>
                <a:gridCol w="2235612">
                  <a:extLst>
                    <a:ext uri="{9D8B030D-6E8A-4147-A177-3AD203B41FA5}">
                      <a16:colId xmlns:a16="http://schemas.microsoft.com/office/drawing/2014/main" val="2551784581"/>
                    </a:ext>
                  </a:extLst>
                </a:gridCol>
              </a:tblGrid>
              <a:tr h="26411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 (SPF BANKING)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(as of March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66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FABULOUS SUNVIEW SDN BHD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20,230,000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20,745,212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6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GEMILANG COACHWORK SDN. BHD.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32,138,000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17,544,766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77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HERNAN CORPORATION SDN BHD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15,779,400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13,215,174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011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MAC WORLD FOOD INDUSTRIES L.L.C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16,993,200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11,737,255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283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MAC WORLD INDUSTRIES SDN BHD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20,000,000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9,942,459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54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IMPACT METAL RESOURCES SDN. BHD.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10,000,000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9,894,975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944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SITI KHADIJAH APPAREL SDN BHD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12,900,000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9,458,209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59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ZAID IBRAHIM &amp; CO.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8,000,000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8,132,978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306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KYOTO ENERGY VENTURES SDN BHD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8,500,000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7,896,361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709846"/>
                  </a:ext>
                </a:extLst>
              </a:tr>
              <a:tr h="737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 BATERIKU (M) SDN. BHD.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25,000,000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100" b="0" i="0" u="none" strike="noStrike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</a:rPr>
                        <a:t>7,737,992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954523"/>
                  </a:ext>
                </a:extLst>
              </a:tr>
              <a:tr h="737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200" b="1" i="0" u="none" strike="noStrike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0" algn="ctr" defTabSz="914400" rtl="0" eaLnBrk="1" fontAlgn="b" latinLnBrk="0" hangingPunct="1">
                        <a:buNone/>
                      </a:pPr>
                      <a:r>
                        <a:rPr lang="en-MY" sz="1100" b="1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b="1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169,540,600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0" algn="ctr" defTabSz="914400" rtl="0" eaLnBrk="1" fontAlgn="b" latinLnBrk="0" hangingPunct="1">
                        <a:buNone/>
                      </a:pPr>
                      <a:r>
                        <a:rPr lang="en-MY" sz="1100" b="1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116,305,381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628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931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901B27-7889-B9D0-8146-45779527C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9017" y="6351797"/>
            <a:ext cx="4114800" cy="365125"/>
          </a:xfrm>
        </p:spPr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33272-6650-6966-D0E1-6104EEF2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84" y="6351797"/>
            <a:ext cx="2743200" cy="365125"/>
          </a:xfrm>
        </p:spPr>
        <p:txBody>
          <a:bodyPr/>
          <a:lstStyle/>
          <a:p>
            <a:fld id="{FDB03F6D-99AB-4E4D-AF85-B08CB022F759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04E30-9AA2-BF65-C603-6CCB203D20E5}"/>
              </a:ext>
            </a:extLst>
          </p:cNvPr>
          <p:cNvSpPr txBox="1"/>
          <p:nvPr/>
        </p:nvSpPr>
        <p:spPr>
          <a:xfrm>
            <a:off x="461284" y="561964"/>
            <a:ext cx="1126943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u="sng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WATCHLIST CUSTOMERS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01D49A-F293-CA1C-A9ED-C27A47F7FBEC}"/>
              </a:ext>
            </a:extLst>
          </p:cNvPr>
          <p:cNvGraphicFramePr>
            <a:graphicFrameLocks noGrp="1"/>
          </p:cNvGraphicFramePr>
          <p:nvPr/>
        </p:nvGraphicFramePr>
        <p:xfrm>
          <a:off x="1058167" y="1440720"/>
          <a:ext cx="10075666" cy="4370356"/>
        </p:xfrm>
        <a:graphic>
          <a:graphicData uri="http://schemas.openxmlformats.org/drawingml/2006/table">
            <a:tbl>
              <a:tblPr/>
              <a:tblGrid>
                <a:gridCol w="708321">
                  <a:extLst>
                    <a:ext uri="{9D8B030D-6E8A-4147-A177-3AD203B41FA5}">
                      <a16:colId xmlns:a16="http://schemas.microsoft.com/office/drawing/2014/main" val="2515938280"/>
                    </a:ext>
                  </a:extLst>
                </a:gridCol>
                <a:gridCol w="3973545">
                  <a:extLst>
                    <a:ext uri="{9D8B030D-6E8A-4147-A177-3AD203B41FA5}">
                      <a16:colId xmlns:a16="http://schemas.microsoft.com/office/drawing/2014/main" val="3275366026"/>
                    </a:ext>
                  </a:extLst>
                </a:gridCol>
                <a:gridCol w="2696900">
                  <a:extLst>
                    <a:ext uri="{9D8B030D-6E8A-4147-A177-3AD203B41FA5}">
                      <a16:colId xmlns:a16="http://schemas.microsoft.com/office/drawing/2014/main" val="707714621"/>
                    </a:ext>
                  </a:extLst>
                </a:gridCol>
                <a:gridCol w="2696900">
                  <a:extLst>
                    <a:ext uri="{9D8B030D-6E8A-4147-A177-3AD203B41FA5}">
                      <a16:colId xmlns:a16="http://schemas.microsoft.com/office/drawing/2014/main" val="1682208436"/>
                    </a:ext>
                  </a:extLst>
                </a:gridCol>
              </a:tblGrid>
              <a:tr h="7499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(as of March 2026)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(as of March 2026)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066762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PWN EXCELLENCE SDN BHD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47,911,173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13,555,706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6670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SARAGREEN SDN BHD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9,397,150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77737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YH POLYMER SDN. BHD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5,825,994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4,871,803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011815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JOYERIA KOHINOOR SDN BHD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4,415,177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3,353,799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283169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RIZMAN RUZAINI CREATIONS (M) SDN BHD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2,780,210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2,638,073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54924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KENNWU MANUFACTURING (M) SDN. BHD.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3,000,000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2,465,536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944164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A-T PRECISION ENGINEERING SDN. BHD.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2,500,000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2,214,160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58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JFC FOOD INDUSTRIES SDN BHD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2,146,339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1,849,059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988608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TAIACE ENERGY SERVICES SDN  BHD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3,020,000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1,588,537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362261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KR TRAVEL &amp; TOURS SDN BHD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1,500,000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1,140,192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13410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PRINSIPTEK INTERNATIONAL LTD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1,537,480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0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59145"/>
                  </a:ext>
                </a:extLst>
              </a:tr>
              <a:tr h="3055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MY" sz="1100" b="0" i="0" u="none" strike="noStrike" kern="1200">
                        <a:solidFill>
                          <a:srgbClr val="00206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MY" sz="1100" b="1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Grand 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1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84,636,373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100" b="1" i="0" u="none" strike="noStrike" kern="1200">
                          <a:solidFill>
                            <a:srgbClr val="00206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43,074,015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628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412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201CB4-EC40-3C1A-66EE-094272EC9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0808" y="6440745"/>
            <a:ext cx="380014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We Deliver Impact Capital For National Development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D17ECEE-812C-2256-8F4D-26F6CB0CECDA}"/>
              </a:ext>
            </a:extLst>
          </p:cNvPr>
          <p:cNvSpPr txBox="1"/>
          <p:nvPr/>
        </p:nvSpPr>
        <p:spPr>
          <a:xfrm>
            <a:off x="873034" y="52130"/>
            <a:ext cx="10445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PORTFOLIO BY CURRENCIES (ACTIVE CUSTOMERS)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01044AF-A1F2-D096-9360-D513DBACD82C}"/>
              </a:ext>
            </a:extLst>
          </p:cNvPr>
          <p:cNvGraphicFramePr>
            <a:graphicFrameLocks noGrp="1"/>
          </p:cNvGraphicFramePr>
          <p:nvPr/>
        </p:nvGraphicFramePr>
        <p:xfrm>
          <a:off x="1992353" y="511957"/>
          <a:ext cx="7831268" cy="2087884"/>
        </p:xfrm>
        <a:graphic>
          <a:graphicData uri="http://schemas.openxmlformats.org/drawingml/2006/table">
            <a:tbl>
              <a:tblPr/>
              <a:tblGrid>
                <a:gridCol w="1539308">
                  <a:extLst>
                    <a:ext uri="{9D8B030D-6E8A-4147-A177-3AD203B41FA5}">
                      <a16:colId xmlns:a16="http://schemas.microsoft.com/office/drawing/2014/main" val="4108635557"/>
                    </a:ext>
                  </a:extLst>
                </a:gridCol>
                <a:gridCol w="1271960">
                  <a:extLst>
                    <a:ext uri="{9D8B030D-6E8A-4147-A177-3AD203B41FA5}">
                      <a16:colId xmlns:a16="http://schemas.microsoft.com/office/drawing/2014/main" val="880737441"/>
                    </a:ext>
                  </a:extLst>
                </a:gridCol>
                <a:gridCol w="2613389">
                  <a:extLst>
                    <a:ext uri="{9D8B030D-6E8A-4147-A177-3AD203B41FA5}">
                      <a16:colId xmlns:a16="http://schemas.microsoft.com/office/drawing/2014/main" val="3485621689"/>
                    </a:ext>
                  </a:extLst>
                </a:gridCol>
                <a:gridCol w="2406611">
                  <a:extLst>
                    <a:ext uri="{9D8B030D-6E8A-4147-A177-3AD203B41FA5}">
                      <a16:colId xmlns:a16="http://schemas.microsoft.com/office/drawing/2014/main" val="2456288412"/>
                    </a:ext>
                  </a:extLst>
                </a:gridCol>
              </a:tblGrid>
              <a:tr h="4114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Currencies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Approval Limit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80844"/>
                  </a:ext>
                </a:extLst>
              </a:tr>
              <a:tr h="411481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MYR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72*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1,899,814,893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840,505,517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327836"/>
                  </a:ext>
                </a:extLst>
              </a:tr>
              <a:tr h="209349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62.4%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40.51%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31.6%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325958"/>
                  </a:ext>
                </a:extLst>
              </a:tr>
              <a:tr h="411481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Non-MYR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44*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2,790,130,260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 1,819,240,142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742708"/>
                  </a:ext>
                </a:extLst>
              </a:tr>
              <a:tr h="209349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39.9%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59.49%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68.4%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402296"/>
                  </a:ext>
                </a:extLst>
              </a:tr>
              <a:tr h="4114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4,689,945,153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2,659,745,659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28833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0B171B77-8CA2-6E33-0EF4-C81632EC6040}"/>
              </a:ext>
            </a:extLst>
          </p:cNvPr>
          <p:cNvGraphicFramePr>
            <a:graphicFrameLocks noGrp="1"/>
          </p:cNvGraphicFramePr>
          <p:nvPr/>
        </p:nvGraphicFramePr>
        <p:xfrm>
          <a:off x="1992353" y="3577281"/>
          <a:ext cx="7831268" cy="1661985"/>
        </p:xfrm>
        <a:graphic>
          <a:graphicData uri="http://schemas.openxmlformats.org/drawingml/2006/table">
            <a:tbl>
              <a:tblPr/>
              <a:tblGrid>
                <a:gridCol w="1801171">
                  <a:extLst>
                    <a:ext uri="{9D8B030D-6E8A-4147-A177-3AD203B41FA5}">
                      <a16:colId xmlns:a16="http://schemas.microsoft.com/office/drawing/2014/main" val="1566851349"/>
                    </a:ext>
                  </a:extLst>
                </a:gridCol>
                <a:gridCol w="741406">
                  <a:extLst>
                    <a:ext uri="{9D8B030D-6E8A-4147-A177-3AD203B41FA5}">
                      <a16:colId xmlns:a16="http://schemas.microsoft.com/office/drawing/2014/main" val="3960275561"/>
                    </a:ext>
                  </a:extLst>
                </a:gridCol>
                <a:gridCol w="2861550">
                  <a:extLst>
                    <a:ext uri="{9D8B030D-6E8A-4147-A177-3AD203B41FA5}">
                      <a16:colId xmlns:a16="http://schemas.microsoft.com/office/drawing/2014/main" val="349722272"/>
                    </a:ext>
                  </a:extLst>
                </a:gridCol>
                <a:gridCol w="2427141">
                  <a:extLst>
                    <a:ext uri="{9D8B030D-6E8A-4147-A177-3AD203B41FA5}">
                      <a16:colId xmlns:a16="http://schemas.microsoft.com/office/drawing/2014/main" val="2060116749"/>
                    </a:ext>
                  </a:extLst>
                </a:gridCol>
              </a:tblGrid>
              <a:tr h="332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Currency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Amount Limit (MYR)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Outstanding (MYR)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462354"/>
                  </a:ext>
                </a:extLst>
              </a:tr>
              <a:tr h="332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AUD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75,993,902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53,797,819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58453"/>
                  </a:ext>
                </a:extLst>
              </a:tr>
              <a:tr h="332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GBP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141,658,400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113,217,045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757178"/>
                  </a:ext>
                </a:extLst>
              </a:tr>
              <a:tr h="332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USD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2,572,477,958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1,652,225,279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524977"/>
                  </a:ext>
                </a:extLst>
              </a:tr>
              <a:tr h="332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2,790,130,260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1,819,240,142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621420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2F16212A-FCD8-74FF-9692-439549058685}"/>
              </a:ext>
            </a:extLst>
          </p:cNvPr>
          <p:cNvSpPr txBox="1"/>
          <p:nvPr/>
        </p:nvSpPr>
        <p:spPr>
          <a:xfrm>
            <a:off x="3390112" y="3059668"/>
            <a:ext cx="5411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Breakdown of Non-MYR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10537A-3920-D932-1546-E85F12666DEE}"/>
              </a:ext>
            </a:extLst>
          </p:cNvPr>
          <p:cNvSpPr txBox="1"/>
          <p:nvPr/>
        </p:nvSpPr>
        <p:spPr>
          <a:xfrm>
            <a:off x="1992353" y="2535482"/>
            <a:ext cx="7562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*Note: Overlap of 6 Customers companies, which have multiple currencies. </a:t>
            </a:r>
          </a:p>
        </p:txBody>
      </p:sp>
    </p:spTree>
    <p:extLst>
      <p:ext uri="{BB962C8B-B14F-4D97-AF65-F5344CB8AC3E}">
        <p14:creationId xmlns:p14="http://schemas.microsoft.com/office/powerpoint/2010/main" val="2740913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9B0197-58B2-8775-6493-E2EB49E9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6A8C56-A5A8-0B1C-0EB9-89CFE03C4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20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C352AE-7565-4082-EA3C-6E9207EDBAC1}"/>
              </a:ext>
            </a:extLst>
          </p:cNvPr>
          <p:cNvGraphicFramePr>
            <a:graphicFrameLocks noGrp="1"/>
          </p:cNvGraphicFramePr>
          <p:nvPr/>
        </p:nvGraphicFramePr>
        <p:xfrm>
          <a:off x="1992353" y="660239"/>
          <a:ext cx="7831268" cy="2308270"/>
        </p:xfrm>
        <a:graphic>
          <a:graphicData uri="http://schemas.openxmlformats.org/drawingml/2006/table">
            <a:tbl>
              <a:tblPr/>
              <a:tblGrid>
                <a:gridCol w="1539308">
                  <a:extLst>
                    <a:ext uri="{9D8B030D-6E8A-4147-A177-3AD203B41FA5}">
                      <a16:colId xmlns:a16="http://schemas.microsoft.com/office/drawing/2014/main" val="4108635557"/>
                    </a:ext>
                  </a:extLst>
                </a:gridCol>
                <a:gridCol w="1271960">
                  <a:extLst>
                    <a:ext uri="{9D8B030D-6E8A-4147-A177-3AD203B41FA5}">
                      <a16:colId xmlns:a16="http://schemas.microsoft.com/office/drawing/2014/main" val="880737441"/>
                    </a:ext>
                  </a:extLst>
                </a:gridCol>
                <a:gridCol w="2613389">
                  <a:extLst>
                    <a:ext uri="{9D8B030D-6E8A-4147-A177-3AD203B41FA5}">
                      <a16:colId xmlns:a16="http://schemas.microsoft.com/office/drawing/2014/main" val="3485621689"/>
                    </a:ext>
                  </a:extLst>
                </a:gridCol>
                <a:gridCol w="2406611">
                  <a:extLst>
                    <a:ext uri="{9D8B030D-6E8A-4147-A177-3AD203B41FA5}">
                      <a16:colId xmlns:a16="http://schemas.microsoft.com/office/drawing/2014/main" val="2456288412"/>
                    </a:ext>
                  </a:extLst>
                </a:gridCol>
              </a:tblGrid>
              <a:tr h="46422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Corporate Type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Approval Limit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80844"/>
                  </a:ext>
                </a:extLst>
              </a:tr>
              <a:tr h="411481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NON-SME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6</a:t>
                      </a:r>
                      <a:r>
                        <a:rPr lang="en-MY" sz="1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5,101,138,077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2,326,901,014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327836"/>
                  </a:ext>
                </a:extLst>
              </a:tr>
              <a:tr h="209349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48.8%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87.1%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87.5%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325958"/>
                  </a:ext>
                </a:extLst>
              </a:tr>
              <a:tr h="411481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SME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65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755,323,600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332,844,644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742708"/>
                  </a:ext>
                </a:extLst>
              </a:tr>
              <a:tr h="209349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51.2%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12.9%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12.5%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402296"/>
                  </a:ext>
                </a:extLst>
              </a:tr>
              <a:tr h="4114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127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5,856,461,677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2,659,745,658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2883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6DBC4F5-45D7-7B3B-6E09-BE526515B54D}"/>
              </a:ext>
            </a:extLst>
          </p:cNvPr>
          <p:cNvSpPr txBox="1"/>
          <p:nvPr/>
        </p:nvSpPr>
        <p:spPr>
          <a:xfrm>
            <a:off x="873034" y="52130"/>
            <a:ext cx="10445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NON-SME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VS SME (ACTIVE CUSTOMERS)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BD11E1-A3AA-192B-47E7-85093B33CB9B}"/>
              </a:ext>
            </a:extLst>
          </p:cNvPr>
          <p:cNvGraphicFramePr>
            <a:graphicFrameLocks noGrp="1"/>
          </p:cNvGraphicFramePr>
          <p:nvPr/>
        </p:nvGraphicFramePr>
        <p:xfrm>
          <a:off x="1992353" y="3577281"/>
          <a:ext cx="7831268" cy="1301991"/>
        </p:xfrm>
        <a:graphic>
          <a:graphicData uri="http://schemas.openxmlformats.org/drawingml/2006/table">
            <a:tbl>
              <a:tblPr/>
              <a:tblGrid>
                <a:gridCol w="1924739">
                  <a:extLst>
                    <a:ext uri="{9D8B030D-6E8A-4147-A177-3AD203B41FA5}">
                      <a16:colId xmlns:a16="http://schemas.microsoft.com/office/drawing/2014/main" val="1566851349"/>
                    </a:ext>
                  </a:extLst>
                </a:gridCol>
                <a:gridCol w="852616">
                  <a:extLst>
                    <a:ext uri="{9D8B030D-6E8A-4147-A177-3AD203B41FA5}">
                      <a16:colId xmlns:a16="http://schemas.microsoft.com/office/drawing/2014/main" val="47610040"/>
                    </a:ext>
                  </a:extLst>
                </a:gridCol>
                <a:gridCol w="2638846">
                  <a:extLst>
                    <a:ext uri="{9D8B030D-6E8A-4147-A177-3AD203B41FA5}">
                      <a16:colId xmlns:a16="http://schemas.microsoft.com/office/drawing/2014/main" val="349722272"/>
                    </a:ext>
                  </a:extLst>
                </a:gridCol>
                <a:gridCol w="2415067">
                  <a:extLst>
                    <a:ext uri="{9D8B030D-6E8A-4147-A177-3AD203B41FA5}">
                      <a16:colId xmlns:a16="http://schemas.microsoft.com/office/drawing/2014/main" val="2060116749"/>
                    </a:ext>
                  </a:extLst>
                </a:gridCol>
              </a:tblGrid>
              <a:tr h="332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Corporate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Amount Limit (MYR)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Outstanding (MYR)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462354"/>
                  </a:ext>
                </a:extLst>
              </a:tr>
              <a:tr h="332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Corporate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41</a:t>
                      </a:r>
                      <a:endParaRPr lang="en-MY" sz="1400" b="0" i="0" u="none" strike="noStrike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4,022,465,877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1,920,287,444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58453"/>
                  </a:ext>
                </a:extLst>
              </a:tr>
              <a:tr h="332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Commercial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1,078,672,200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406,613,570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757178"/>
                  </a:ext>
                </a:extLst>
              </a:tr>
              <a:tr h="2144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6</a:t>
                      </a:r>
                      <a:r>
                        <a:rPr lang="en-MY" sz="1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5,101,138,077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2,326,901,014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62142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A6B57A-6D37-8A16-AC8A-0D2B160327B9}"/>
              </a:ext>
            </a:extLst>
          </p:cNvPr>
          <p:cNvSpPr txBox="1"/>
          <p:nvPr/>
        </p:nvSpPr>
        <p:spPr>
          <a:xfrm>
            <a:off x="3390112" y="3059668"/>
            <a:ext cx="5411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Breakdown of Non-</a:t>
            </a:r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486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C8D082-3CED-BD55-C286-383CBC51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51C93F-7539-D12A-2497-328087DC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8C403-EF58-8B33-9B5F-F5760CE14803}"/>
              </a:ext>
            </a:extLst>
          </p:cNvPr>
          <p:cNvSpPr txBox="1"/>
          <p:nvPr/>
        </p:nvSpPr>
        <p:spPr>
          <a:xfrm>
            <a:off x="873034" y="52130"/>
            <a:ext cx="10445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 Team &amp; Regional Offices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F480FD-1129-CF04-C8FD-97A3C2144AC3}"/>
              </a:ext>
            </a:extLst>
          </p:cNvPr>
          <p:cNvGraphicFramePr>
            <a:graphicFrameLocks noGrp="1"/>
          </p:cNvGraphicFramePr>
          <p:nvPr/>
        </p:nvGraphicFramePr>
        <p:xfrm>
          <a:off x="1900881" y="526964"/>
          <a:ext cx="7831268" cy="2308270"/>
        </p:xfrm>
        <a:graphic>
          <a:graphicData uri="http://schemas.openxmlformats.org/drawingml/2006/table">
            <a:tbl>
              <a:tblPr/>
              <a:tblGrid>
                <a:gridCol w="1539308">
                  <a:extLst>
                    <a:ext uri="{9D8B030D-6E8A-4147-A177-3AD203B41FA5}">
                      <a16:colId xmlns:a16="http://schemas.microsoft.com/office/drawing/2014/main" val="3769088390"/>
                    </a:ext>
                  </a:extLst>
                </a:gridCol>
                <a:gridCol w="1271960">
                  <a:extLst>
                    <a:ext uri="{9D8B030D-6E8A-4147-A177-3AD203B41FA5}">
                      <a16:colId xmlns:a16="http://schemas.microsoft.com/office/drawing/2014/main" val="3249028120"/>
                    </a:ext>
                  </a:extLst>
                </a:gridCol>
                <a:gridCol w="2613389">
                  <a:extLst>
                    <a:ext uri="{9D8B030D-6E8A-4147-A177-3AD203B41FA5}">
                      <a16:colId xmlns:a16="http://schemas.microsoft.com/office/drawing/2014/main" val="869211238"/>
                    </a:ext>
                  </a:extLst>
                </a:gridCol>
                <a:gridCol w="2406611">
                  <a:extLst>
                    <a:ext uri="{9D8B030D-6E8A-4147-A177-3AD203B41FA5}">
                      <a16:colId xmlns:a16="http://schemas.microsoft.com/office/drawing/2014/main" val="2196003117"/>
                    </a:ext>
                  </a:extLst>
                </a:gridCol>
              </a:tblGrid>
              <a:tr h="46422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Corporate Type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Approval Limit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785446"/>
                  </a:ext>
                </a:extLst>
              </a:tr>
              <a:tr h="411481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NON-SME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5,101,138,077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2,326,901,014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633145"/>
                  </a:ext>
                </a:extLst>
              </a:tr>
              <a:tr h="209349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48.8%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87.1%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87.5%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664872"/>
                  </a:ext>
                </a:extLst>
              </a:tr>
              <a:tr h="411481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SME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755,323,600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332,844,644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599777"/>
                  </a:ext>
                </a:extLst>
              </a:tr>
              <a:tr h="209349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51.2%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12.9%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12.5%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827703"/>
                  </a:ext>
                </a:extLst>
              </a:tr>
              <a:tr h="4114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5,856,461,677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2,659,745,658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17875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4B2561-9C86-C936-2811-1DDFF30BE919}"/>
              </a:ext>
            </a:extLst>
          </p:cNvPr>
          <p:cNvGraphicFramePr>
            <a:graphicFrameLocks noGrp="1"/>
          </p:cNvGraphicFramePr>
          <p:nvPr/>
        </p:nvGraphicFramePr>
        <p:xfrm>
          <a:off x="734027" y="3394810"/>
          <a:ext cx="5064889" cy="2450406"/>
        </p:xfrm>
        <a:graphic>
          <a:graphicData uri="http://schemas.openxmlformats.org/drawingml/2006/table">
            <a:tbl>
              <a:tblPr/>
              <a:tblGrid>
                <a:gridCol w="2252241">
                  <a:extLst>
                    <a:ext uri="{9D8B030D-6E8A-4147-A177-3AD203B41FA5}">
                      <a16:colId xmlns:a16="http://schemas.microsoft.com/office/drawing/2014/main" val="1430945600"/>
                    </a:ext>
                  </a:extLst>
                </a:gridCol>
                <a:gridCol w="1377388">
                  <a:extLst>
                    <a:ext uri="{9D8B030D-6E8A-4147-A177-3AD203B41FA5}">
                      <a16:colId xmlns:a16="http://schemas.microsoft.com/office/drawing/2014/main" val="1662145437"/>
                    </a:ext>
                  </a:extLst>
                </a:gridCol>
                <a:gridCol w="1435260">
                  <a:extLst>
                    <a:ext uri="{9D8B030D-6E8A-4147-A177-3AD203B41FA5}">
                      <a16:colId xmlns:a16="http://schemas.microsoft.com/office/drawing/2014/main" val="4149331051"/>
                    </a:ext>
                  </a:extLst>
                </a:gridCol>
              </a:tblGrid>
              <a:tr h="7947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 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(COMMERCIAL BANKING)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(as of March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653714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Corporate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420,785,600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222,078,251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053928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Commercial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423,039,000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230,606,684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610363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SME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165,621,879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41,626,799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576641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1,009,446,479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494,311,734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95894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D9975D0-7F1C-8F70-3976-A2F351592816}"/>
              </a:ext>
            </a:extLst>
          </p:cNvPr>
          <p:cNvGraphicFramePr>
            <a:graphicFrameLocks noGrp="1"/>
          </p:cNvGraphicFramePr>
          <p:nvPr/>
        </p:nvGraphicFramePr>
        <p:xfrm>
          <a:off x="6254077" y="3394810"/>
          <a:ext cx="5064889" cy="2450406"/>
        </p:xfrm>
        <a:graphic>
          <a:graphicData uri="http://schemas.openxmlformats.org/drawingml/2006/table">
            <a:tbl>
              <a:tblPr/>
              <a:tblGrid>
                <a:gridCol w="2252241">
                  <a:extLst>
                    <a:ext uri="{9D8B030D-6E8A-4147-A177-3AD203B41FA5}">
                      <a16:colId xmlns:a16="http://schemas.microsoft.com/office/drawing/2014/main" val="1430945600"/>
                    </a:ext>
                  </a:extLst>
                </a:gridCol>
                <a:gridCol w="1377388">
                  <a:extLst>
                    <a:ext uri="{9D8B030D-6E8A-4147-A177-3AD203B41FA5}">
                      <a16:colId xmlns:a16="http://schemas.microsoft.com/office/drawing/2014/main" val="1662145437"/>
                    </a:ext>
                  </a:extLst>
                </a:gridCol>
                <a:gridCol w="1435260">
                  <a:extLst>
                    <a:ext uri="{9D8B030D-6E8A-4147-A177-3AD203B41FA5}">
                      <a16:colId xmlns:a16="http://schemas.microsoft.com/office/drawing/2014/main" val="4149331051"/>
                    </a:ext>
                  </a:extLst>
                </a:gridCol>
              </a:tblGrid>
              <a:tr h="7947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 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(REGIONAL OFFICES)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(as of March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March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653714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Corporate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207,853,600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93,584,031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053928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Commercial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610363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SME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213,855,828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100,339,489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576641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421,709,428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193,923,520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958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552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561F5-2A61-D736-895D-BF19AD098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FB319A-50F2-2B3E-924B-5AC3DE12A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>
                <a:ea typeface="Open Sans"/>
                <a:sym typeface="Open Sans"/>
              </a:rPr>
              <a:t>We Deliver Impact Capital For National Development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DB12C7-BB00-667F-D78B-4050CF2E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03F6D-99AB-4E4D-AF85-B08CB022F759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30DC6-2C6D-E349-9535-296DC145196B}"/>
              </a:ext>
            </a:extLst>
          </p:cNvPr>
          <p:cNvSpPr txBox="1"/>
          <p:nvPr/>
        </p:nvSpPr>
        <p:spPr>
          <a:xfrm>
            <a:off x="873034" y="52130"/>
            <a:ext cx="10445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Team &amp; SPF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F7AD12-3381-8BC2-8E0A-3042D83A778B}"/>
              </a:ext>
            </a:extLst>
          </p:cNvPr>
          <p:cNvGraphicFramePr>
            <a:graphicFrameLocks noGrp="1"/>
          </p:cNvGraphicFramePr>
          <p:nvPr/>
        </p:nvGraphicFramePr>
        <p:xfrm>
          <a:off x="1900881" y="526964"/>
          <a:ext cx="7831268" cy="2308270"/>
        </p:xfrm>
        <a:graphic>
          <a:graphicData uri="http://schemas.openxmlformats.org/drawingml/2006/table">
            <a:tbl>
              <a:tblPr/>
              <a:tblGrid>
                <a:gridCol w="1539308">
                  <a:extLst>
                    <a:ext uri="{9D8B030D-6E8A-4147-A177-3AD203B41FA5}">
                      <a16:colId xmlns:a16="http://schemas.microsoft.com/office/drawing/2014/main" val="3769088390"/>
                    </a:ext>
                  </a:extLst>
                </a:gridCol>
                <a:gridCol w="1271960">
                  <a:extLst>
                    <a:ext uri="{9D8B030D-6E8A-4147-A177-3AD203B41FA5}">
                      <a16:colId xmlns:a16="http://schemas.microsoft.com/office/drawing/2014/main" val="3249028120"/>
                    </a:ext>
                  </a:extLst>
                </a:gridCol>
                <a:gridCol w="2613389">
                  <a:extLst>
                    <a:ext uri="{9D8B030D-6E8A-4147-A177-3AD203B41FA5}">
                      <a16:colId xmlns:a16="http://schemas.microsoft.com/office/drawing/2014/main" val="869211238"/>
                    </a:ext>
                  </a:extLst>
                </a:gridCol>
                <a:gridCol w="2406611">
                  <a:extLst>
                    <a:ext uri="{9D8B030D-6E8A-4147-A177-3AD203B41FA5}">
                      <a16:colId xmlns:a16="http://schemas.microsoft.com/office/drawing/2014/main" val="2196003117"/>
                    </a:ext>
                  </a:extLst>
                </a:gridCol>
              </a:tblGrid>
              <a:tr h="46422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400" b="1" i="0" u="none" strike="noStrike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Corporate Type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Approval Limit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785446"/>
                  </a:ext>
                </a:extLst>
              </a:tr>
              <a:tr h="411481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NON-SME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5,101,138,077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2,326,901,014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633145"/>
                  </a:ext>
                </a:extLst>
              </a:tr>
              <a:tr h="209349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48.8%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87.1%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87.5%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664872"/>
                  </a:ext>
                </a:extLst>
              </a:tr>
              <a:tr h="411481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SME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755,323,600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332,844,644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599777"/>
                  </a:ext>
                </a:extLst>
              </a:tr>
              <a:tr h="209349">
                <a:tc v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51.2%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12.9%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12.5%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827703"/>
                  </a:ext>
                </a:extLst>
              </a:tr>
              <a:tr h="4114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5,856,461,677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2,659,745,658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17875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3CA2AB-3FC4-60E4-085C-B5B249671D39}"/>
              </a:ext>
            </a:extLst>
          </p:cNvPr>
          <p:cNvGraphicFramePr>
            <a:graphicFrameLocks noGrp="1"/>
          </p:cNvGraphicFramePr>
          <p:nvPr/>
        </p:nvGraphicFramePr>
        <p:xfrm>
          <a:off x="734027" y="3394810"/>
          <a:ext cx="5064889" cy="2450406"/>
        </p:xfrm>
        <a:graphic>
          <a:graphicData uri="http://schemas.openxmlformats.org/drawingml/2006/table">
            <a:tbl>
              <a:tblPr/>
              <a:tblGrid>
                <a:gridCol w="2252241">
                  <a:extLst>
                    <a:ext uri="{9D8B030D-6E8A-4147-A177-3AD203B41FA5}">
                      <a16:colId xmlns:a16="http://schemas.microsoft.com/office/drawing/2014/main" val="1430945600"/>
                    </a:ext>
                  </a:extLst>
                </a:gridCol>
                <a:gridCol w="1377388">
                  <a:extLst>
                    <a:ext uri="{9D8B030D-6E8A-4147-A177-3AD203B41FA5}">
                      <a16:colId xmlns:a16="http://schemas.microsoft.com/office/drawing/2014/main" val="1662145437"/>
                    </a:ext>
                  </a:extLst>
                </a:gridCol>
                <a:gridCol w="1435260">
                  <a:extLst>
                    <a:ext uri="{9D8B030D-6E8A-4147-A177-3AD203B41FA5}">
                      <a16:colId xmlns:a16="http://schemas.microsoft.com/office/drawing/2014/main" val="4149331051"/>
                    </a:ext>
                  </a:extLst>
                </a:gridCol>
              </a:tblGrid>
              <a:tr h="7947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 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(CORPORATE BANKING)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(as of Mar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653714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Corporate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3,361,668,677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1,587,080,395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053928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Commercial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562,794,000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109,801,733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610363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SME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190,279,106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105,125,8401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576641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4,114,761,783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1,802,007,969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95894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04E5A22-391E-46F3-5F41-26A2193F0CF7}"/>
              </a:ext>
            </a:extLst>
          </p:cNvPr>
          <p:cNvGraphicFramePr>
            <a:graphicFrameLocks noGrp="1"/>
          </p:cNvGraphicFramePr>
          <p:nvPr/>
        </p:nvGraphicFramePr>
        <p:xfrm>
          <a:off x="6254077" y="3394810"/>
          <a:ext cx="5064889" cy="2450406"/>
        </p:xfrm>
        <a:graphic>
          <a:graphicData uri="http://schemas.openxmlformats.org/drawingml/2006/table">
            <a:tbl>
              <a:tblPr/>
              <a:tblGrid>
                <a:gridCol w="2252241">
                  <a:extLst>
                    <a:ext uri="{9D8B030D-6E8A-4147-A177-3AD203B41FA5}">
                      <a16:colId xmlns:a16="http://schemas.microsoft.com/office/drawing/2014/main" val="1430945600"/>
                    </a:ext>
                  </a:extLst>
                </a:gridCol>
                <a:gridCol w="1377388">
                  <a:extLst>
                    <a:ext uri="{9D8B030D-6E8A-4147-A177-3AD203B41FA5}">
                      <a16:colId xmlns:a16="http://schemas.microsoft.com/office/drawing/2014/main" val="1662145437"/>
                    </a:ext>
                  </a:extLst>
                </a:gridCol>
                <a:gridCol w="1435260">
                  <a:extLst>
                    <a:ext uri="{9D8B030D-6E8A-4147-A177-3AD203B41FA5}">
                      <a16:colId xmlns:a16="http://schemas.microsoft.com/office/drawing/2014/main" val="4149331051"/>
                    </a:ext>
                  </a:extLst>
                </a:gridCol>
              </a:tblGrid>
              <a:tr h="7947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CUSTOMERS 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(SPF)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FACILITY LIMIT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 kern="1200">
                          <a:solidFill>
                            <a:srgbClr val="FFFFFF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(as of Mar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TOTAL OUTSTANDING (RM)</a:t>
                      </a:r>
                    </a:p>
                    <a:p>
                      <a:pPr algn="ctr" fontAlgn="b">
                        <a:buNone/>
                      </a:pPr>
                      <a:r>
                        <a:rPr lang="en-MY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(as of Mar 2026)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653714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Corporate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32,138,000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17,544,766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053928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Commercial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92,839,200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66,205,153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610363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SME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185,566,787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0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85,752,515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576641"/>
                  </a:ext>
                </a:extLst>
              </a:tr>
              <a:tr h="41392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310,543,987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MY" sz="1400" b="1" i="0" u="none" strike="noStrike" kern="1200">
                          <a:solidFill>
                            <a:srgbClr val="00206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169,502,434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958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431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3DF4C6-6988-705F-70B1-6A64A008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15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07560C2-43CB-53BE-A02F-8ECAB86BCEFC}"/>
              </a:ext>
            </a:extLst>
          </p:cNvPr>
          <p:cNvSpPr txBox="1">
            <a:spLocks/>
          </p:cNvSpPr>
          <p:nvPr/>
        </p:nvSpPr>
        <p:spPr>
          <a:xfrm>
            <a:off x="2681329" y="6440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We Deliver Impact Capital For National Development</a:t>
            </a: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E634A947-54C8-1A51-D472-D588343A524A}"/>
              </a:ext>
            </a:extLst>
          </p:cNvPr>
          <p:cNvGraphicFramePr>
            <a:graphicFrameLocks noGrp="1"/>
          </p:cNvGraphicFramePr>
          <p:nvPr/>
        </p:nvGraphicFramePr>
        <p:xfrm>
          <a:off x="319089" y="835133"/>
          <a:ext cx="11553825" cy="859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0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68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05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0595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54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sz="1000" b="1" spc="-5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lang="en-MY" sz="100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NAME OF CUSTOMER</a:t>
                      </a:r>
                    </a:p>
                  </a:txBody>
                  <a:tcPr marL="0" marR="0" marT="381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lang="en-MY" sz="1000" b="1" cap="all" spc="-5" baseline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facility</a:t>
                      </a:r>
                      <a:endParaRPr sz="1000" cap="all" baseline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lang="en-MY" sz="1000" b="1" cap="all" spc="-5" baseline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CRY</a:t>
                      </a:r>
                      <a:endParaRPr sz="1000" cap="all" baseline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</a:pPr>
                      <a:r>
                        <a:rPr lang="en-MY" sz="1000" b="1" cap="all" spc="-10" baseline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APPROVED </a:t>
                      </a:r>
                      <a:r>
                        <a:rPr sz="1000" b="1" cap="all" spc="-10" baseline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Amount</a:t>
                      </a:r>
                      <a:r>
                        <a:rPr sz="1000" b="1" cap="all" spc="20" baseline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cap="all" spc="-5" baseline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(FX)</a:t>
                      </a:r>
                      <a:endParaRPr sz="1000" cap="all" baseline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288" marR="6985" indent="-14288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000" b="1" cap="all" spc="-5" baseline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Date  </a:t>
                      </a:r>
                      <a:r>
                        <a:rPr lang="en-US" sz="1000" b="1" cap="all" spc="-5" baseline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CANCELLED/ FULLY SETTLED</a:t>
                      </a:r>
                      <a:endParaRPr sz="1000" cap="all" baseline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946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</a:pPr>
                      <a:r>
                        <a:rPr lang="en-MY" sz="1000" b="1" cap="all" spc="-5" baseline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Reasons/Justifications</a:t>
                      </a:r>
                      <a:endParaRPr lang="en-MY" sz="1000" cap="all" baseline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81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sz="1000" b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it-IT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Marrybrown Australia Pty Ltd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MY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TF- 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MY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MY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124,675.00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MY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05/05/2026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Facility cancelled on 5/5/2026 as approved by MCC.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9529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4E59534-EDB9-F6C9-4AE1-A3BEC29BB6D1}"/>
              </a:ext>
            </a:extLst>
          </p:cNvPr>
          <p:cNvSpPr txBox="1"/>
          <p:nvPr/>
        </p:nvSpPr>
        <p:spPr>
          <a:xfrm>
            <a:off x="2117984" y="1843424"/>
            <a:ext cx="7956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NEW ACCOUNT CLASSIFIED AS WATCHLIST FROM STAGE 1 TO STAGE 2 – </a:t>
            </a: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 MAY 2026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88161F-F489-6346-BB3D-21005BCBE49F}"/>
              </a:ext>
            </a:extLst>
          </p:cNvPr>
          <p:cNvSpPr txBox="1"/>
          <p:nvPr/>
        </p:nvSpPr>
        <p:spPr>
          <a:xfrm>
            <a:off x="1994958" y="4684458"/>
            <a:ext cx="8178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23"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LIST OF RECLASSIFICATION FROM STAGE 3 TO STAGE 2 </a:t>
            </a: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31 MAY 2026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05E7D55-0FEB-8890-E773-48F630EEE7B5}"/>
              </a:ext>
            </a:extLst>
          </p:cNvPr>
          <p:cNvGraphicFramePr>
            <a:graphicFrameLocks noGrp="1"/>
          </p:cNvGraphicFramePr>
          <p:nvPr/>
        </p:nvGraphicFramePr>
        <p:xfrm>
          <a:off x="407579" y="5031803"/>
          <a:ext cx="11553826" cy="527831"/>
        </p:xfrm>
        <a:graphic>
          <a:graphicData uri="http://schemas.openxmlformats.org/drawingml/2006/table">
            <a:tbl>
              <a:tblPr/>
              <a:tblGrid>
                <a:gridCol w="361408">
                  <a:extLst>
                    <a:ext uri="{9D8B030D-6E8A-4147-A177-3AD203B41FA5}">
                      <a16:colId xmlns:a16="http://schemas.microsoft.com/office/drawing/2014/main" val="740464586"/>
                    </a:ext>
                  </a:extLst>
                </a:gridCol>
                <a:gridCol w="2236573">
                  <a:extLst>
                    <a:ext uri="{9D8B030D-6E8A-4147-A177-3AD203B41FA5}">
                      <a16:colId xmlns:a16="http://schemas.microsoft.com/office/drawing/2014/main" val="926189653"/>
                    </a:ext>
                  </a:extLst>
                </a:gridCol>
                <a:gridCol w="852616">
                  <a:extLst>
                    <a:ext uri="{9D8B030D-6E8A-4147-A177-3AD203B41FA5}">
                      <a16:colId xmlns:a16="http://schemas.microsoft.com/office/drawing/2014/main" val="2463619601"/>
                    </a:ext>
                  </a:extLst>
                </a:gridCol>
                <a:gridCol w="1223319">
                  <a:extLst>
                    <a:ext uri="{9D8B030D-6E8A-4147-A177-3AD203B41FA5}">
                      <a16:colId xmlns:a16="http://schemas.microsoft.com/office/drawing/2014/main" val="1560227450"/>
                    </a:ext>
                  </a:extLst>
                </a:gridCol>
                <a:gridCol w="6879910">
                  <a:extLst>
                    <a:ext uri="{9D8B030D-6E8A-4147-A177-3AD203B41FA5}">
                      <a16:colId xmlns:a16="http://schemas.microsoft.com/office/drawing/2014/main" val="959196660"/>
                    </a:ext>
                  </a:extLst>
                </a:gridCol>
              </a:tblGrid>
              <a:tr h="229943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NAME OF CUSTOMER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MFRS9 STAGING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DATE RECLASSIFIED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REMARKS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967355"/>
                  </a:ext>
                </a:extLst>
              </a:tr>
              <a:tr h="223031">
                <a:tc>
                  <a:txBody>
                    <a:bodyPr/>
                    <a:lstStyle/>
                    <a:p>
                      <a:pPr algn="ctr" fontAlgn="ctr"/>
                      <a:endParaRPr lang="en-MY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ctr" fontAlgn="t"/>
                      <a:r>
                        <a:rPr lang="en-US" sz="10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NIL</a:t>
                      </a:r>
                      <a:endParaRPr lang="en-MY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NIL</a:t>
                      </a:r>
                      <a:endParaRPr lang="en-MY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NIL</a:t>
                      </a:r>
                      <a:endParaRPr lang="en-MY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1200">
                          <a:solidFill>
                            <a:schemeClr val="accent2">
                              <a:lumMod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NIL</a:t>
                      </a:r>
                      <a:endParaRPr lang="en-MY" sz="1000" b="0" i="0" u="none" strike="noStrike">
                        <a:solidFill>
                          <a:schemeClr val="accent2">
                            <a:lumMod val="2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28944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A7B7108-F95E-5CDA-AFF2-E41876DAF545}"/>
              </a:ext>
            </a:extLst>
          </p:cNvPr>
          <p:cNvGraphicFramePr>
            <a:graphicFrameLocks noGrp="1"/>
          </p:cNvGraphicFramePr>
          <p:nvPr/>
        </p:nvGraphicFramePr>
        <p:xfrm>
          <a:off x="319090" y="3091410"/>
          <a:ext cx="11553824" cy="515846"/>
        </p:xfrm>
        <a:graphic>
          <a:graphicData uri="http://schemas.openxmlformats.org/drawingml/2006/table">
            <a:tbl>
              <a:tblPr/>
              <a:tblGrid>
                <a:gridCol w="337044">
                  <a:extLst>
                    <a:ext uri="{9D8B030D-6E8A-4147-A177-3AD203B41FA5}">
                      <a16:colId xmlns:a16="http://schemas.microsoft.com/office/drawing/2014/main" val="740464586"/>
                    </a:ext>
                  </a:extLst>
                </a:gridCol>
                <a:gridCol w="2375780">
                  <a:extLst>
                    <a:ext uri="{9D8B030D-6E8A-4147-A177-3AD203B41FA5}">
                      <a16:colId xmlns:a16="http://schemas.microsoft.com/office/drawing/2014/main" val="926189653"/>
                    </a:ext>
                  </a:extLst>
                </a:gridCol>
                <a:gridCol w="1396334">
                  <a:extLst>
                    <a:ext uri="{9D8B030D-6E8A-4147-A177-3AD203B41FA5}">
                      <a16:colId xmlns:a16="http://schemas.microsoft.com/office/drawing/2014/main" val="2463619601"/>
                    </a:ext>
                  </a:extLst>
                </a:gridCol>
                <a:gridCol w="1632503">
                  <a:extLst>
                    <a:ext uri="{9D8B030D-6E8A-4147-A177-3AD203B41FA5}">
                      <a16:colId xmlns:a16="http://schemas.microsoft.com/office/drawing/2014/main" val="1560227450"/>
                    </a:ext>
                  </a:extLst>
                </a:gridCol>
                <a:gridCol w="2138889">
                  <a:extLst>
                    <a:ext uri="{9D8B030D-6E8A-4147-A177-3AD203B41FA5}">
                      <a16:colId xmlns:a16="http://schemas.microsoft.com/office/drawing/2014/main" val="106481223"/>
                    </a:ext>
                  </a:extLst>
                </a:gridCol>
                <a:gridCol w="3673274">
                  <a:extLst>
                    <a:ext uri="{9D8B030D-6E8A-4147-A177-3AD203B41FA5}">
                      <a16:colId xmlns:a16="http://schemas.microsoft.com/office/drawing/2014/main" val="1108016067"/>
                    </a:ext>
                  </a:extLst>
                </a:gridCol>
              </a:tblGrid>
              <a:tr h="273095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NAME OF CUSTOMER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MFRS9 STAGING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DATE IMPAIRED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OVERDUE AMOUNT (RM)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REASON FOR IMPAIREMENT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967355"/>
                  </a:ext>
                </a:extLst>
              </a:tr>
              <a:tr h="242751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A-T Precision Engineering Sdn. Bhd.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endParaRPr kumimoji="0" lang="en-MY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31/05/2026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2,500,000.00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Winding up status.</a:t>
                      </a:r>
                      <a:endParaRPr lang="en-MY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2014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D794F21-8F09-46CE-93B5-082688BBEE7A}"/>
              </a:ext>
            </a:extLst>
          </p:cNvPr>
          <p:cNvSpPr txBox="1"/>
          <p:nvPr/>
        </p:nvSpPr>
        <p:spPr>
          <a:xfrm>
            <a:off x="2116961" y="3691266"/>
            <a:ext cx="8135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23"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LIST OF RECLASSIFICATION FROM STAGE 2 TO STAGE 1 </a:t>
            </a: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31 MAY 2026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EBC0CDD-016A-8990-F9EC-FD885E72B4A1}"/>
              </a:ext>
            </a:extLst>
          </p:cNvPr>
          <p:cNvGraphicFramePr>
            <a:graphicFrameLocks noGrp="1"/>
          </p:cNvGraphicFramePr>
          <p:nvPr/>
        </p:nvGraphicFramePr>
        <p:xfrm>
          <a:off x="319087" y="4026048"/>
          <a:ext cx="11553826" cy="611113"/>
        </p:xfrm>
        <a:graphic>
          <a:graphicData uri="http://schemas.openxmlformats.org/drawingml/2006/table">
            <a:tbl>
              <a:tblPr/>
              <a:tblGrid>
                <a:gridCol w="353914">
                  <a:extLst>
                    <a:ext uri="{9D8B030D-6E8A-4147-A177-3AD203B41FA5}">
                      <a16:colId xmlns:a16="http://schemas.microsoft.com/office/drawing/2014/main" val="740464586"/>
                    </a:ext>
                  </a:extLst>
                </a:gridCol>
                <a:gridCol w="2269562">
                  <a:extLst>
                    <a:ext uri="{9D8B030D-6E8A-4147-A177-3AD203B41FA5}">
                      <a16:colId xmlns:a16="http://schemas.microsoft.com/office/drawing/2014/main" val="926189653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4636196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156022745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106481223"/>
                    </a:ext>
                  </a:extLst>
                </a:gridCol>
                <a:gridCol w="5691850">
                  <a:extLst>
                    <a:ext uri="{9D8B030D-6E8A-4147-A177-3AD203B41FA5}">
                      <a16:colId xmlns:a16="http://schemas.microsoft.com/office/drawing/2014/main" val="1108016067"/>
                    </a:ext>
                  </a:extLst>
                </a:gridCol>
              </a:tblGrid>
              <a:tr h="293251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NAME OF CUSTOMER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MFRS9 STAGING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DATE RECLASSIFIED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OUTSTANDING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REMARKS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967355"/>
                  </a:ext>
                </a:extLst>
              </a:tr>
              <a:tr h="306313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0" i="0" u="none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NIL</a:t>
                      </a:r>
                      <a:endParaRPr kumimoji="0" lang="en-MY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NIL</a:t>
                      </a:r>
                      <a:endParaRPr kumimoji="0" lang="en-MY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NIL</a:t>
                      </a:r>
                      <a:endParaRPr kumimoji="0" lang="en-MY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NIL</a:t>
                      </a:r>
                      <a:endParaRPr lang="en-MY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40433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945830B-98A6-19D7-EFCB-5A07BEB6B900}"/>
              </a:ext>
            </a:extLst>
          </p:cNvPr>
          <p:cNvGraphicFramePr>
            <a:graphicFrameLocks noGrp="1"/>
          </p:cNvGraphicFramePr>
          <p:nvPr/>
        </p:nvGraphicFramePr>
        <p:xfrm>
          <a:off x="307232" y="2144975"/>
          <a:ext cx="11565682" cy="546548"/>
        </p:xfrm>
        <a:graphic>
          <a:graphicData uri="http://schemas.openxmlformats.org/drawingml/2006/table">
            <a:tbl>
              <a:tblPr/>
              <a:tblGrid>
                <a:gridCol w="452458">
                  <a:extLst>
                    <a:ext uri="{9D8B030D-6E8A-4147-A177-3AD203B41FA5}">
                      <a16:colId xmlns:a16="http://schemas.microsoft.com/office/drawing/2014/main" val="740464586"/>
                    </a:ext>
                  </a:extLst>
                </a:gridCol>
                <a:gridCol w="3437398">
                  <a:extLst>
                    <a:ext uri="{9D8B030D-6E8A-4147-A177-3AD203B41FA5}">
                      <a16:colId xmlns:a16="http://schemas.microsoft.com/office/drawing/2014/main" val="926189653"/>
                    </a:ext>
                  </a:extLst>
                </a:gridCol>
                <a:gridCol w="1529136">
                  <a:extLst>
                    <a:ext uri="{9D8B030D-6E8A-4147-A177-3AD203B41FA5}">
                      <a16:colId xmlns:a16="http://schemas.microsoft.com/office/drawing/2014/main" val="2463619601"/>
                    </a:ext>
                  </a:extLst>
                </a:gridCol>
                <a:gridCol w="1550151">
                  <a:extLst>
                    <a:ext uri="{9D8B030D-6E8A-4147-A177-3AD203B41FA5}">
                      <a16:colId xmlns:a16="http://schemas.microsoft.com/office/drawing/2014/main" val="1560227450"/>
                    </a:ext>
                  </a:extLst>
                </a:gridCol>
                <a:gridCol w="4596539">
                  <a:extLst>
                    <a:ext uri="{9D8B030D-6E8A-4147-A177-3AD203B41FA5}">
                      <a16:colId xmlns:a16="http://schemas.microsoft.com/office/drawing/2014/main" val="959196660"/>
                    </a:ext>
                  </a:extLst>
                </a:gridCol>
              </a:tblGrid>
              <a:tr h="338511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NAME OF CUSTOMER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MFRS9 STAGING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DATE CLASSIFIED</a:t>
                      </a:r>
                      <a:endParaRPr lang="en-MY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WATCHLIST REASON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967355"/>
                  </a:ext>
                </a:extLst>
              </a:tr>
              <a:tr h="208037">
                <a:tc>
                  <a:txBody>
                    <a:bodyPr/>
                    <a:lstStyle/>
                    <a:p>
                      <a:pPr marL="9683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MY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NIL</a:t>
                      </a:r>
                      <a:endParaRPr kumimoji="0" lang="en-MY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NIL</a:t>
                      </a:r>
                      <a:endParaRPr kumimoji="0" lang="en-MY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838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NIL</a:t>
                      </a:r>
                      <a:endParaRPr lang="en-MY" sz="1000" b="0" i="0" u="none" strike="noStrike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02709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75B3838-6182-9E99-3384-AC819213B89E}"/>
              </a:ext>
            </a:extLst>
          </p:cNvPr>
          <p:cNvSpPr txBox="1"/>
          <p:nvPr/>
        </p:nvSpPr>
        <p:spPr>
          <a:xfrm>
            <a:off x="2315098" y="363963"/>
            <a:ext cx="75143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CANCELLATION/ FULLY SETTLED UPON MATURITY – 31 MAY 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6ECF06-C54A-05D8-ABEB-17F838C3BE2E}"/>
              </a:ext>
            </a:extLst>
          </p:cNvPr>
          <p:cNvSpPr txBox="1"/>
          <p:nvPr/>
        </p:nvSpPr>
        <p:spPr>
          <a:xfrm>
            <a:off x="3197755" y="2737399"/>
            <a:ext cx="5772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NEW NON-PERFORMING LOAN </a:t>
            </a: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31 MAY 2026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116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ustom 5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F56055"/>
    </a:accent2>
    <a:accent3>
      <a:srgbClr val="B4C6E7"/>
    </a:accent3>
    <a:accent4>
      <a:srgbClr val="F5270B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Custom 5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F56055"/>
    </a:accent2>
    <a:accent3>
      <a:srgbClr val="B4C6E7"/>
    </a:accent3>
    <a:accent4>
      <a:srgbClr val="F5270B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9eb7e8-78f2-4340-9490-acd44cfa20dc" xsi:nil="true"/>
    <lcf76f155ced4ddcb4097134ff3c332f xmlns="3a86e97f-4373-4f71-89ac-a38beef8f59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A2B9B71F720A4D97C30ECFAF68DAED" ma:contentTypeVersion="17" ma:contentTypeDescription="Create a new document." ma:contentTypeScope="" ma:versionID="1e811e198c44ee27779f68b8376eed27">
  <xsd:schema xmlns:xsd="http://www.w3.org/2001/XMLSchema" xmlns:xs="http://www.w3.org/2001/XMLSchema" xmlns:p="http://schemas.microsoft.com/office/2006/metadata/properties" xmlns:ns2="3a86e97f-4373-4f71-89ac-a38beef8f59c" xmlns:ns3="ec9eb7e8-78f2-4340-9490-acd44cfa20dc" targetNamespace="http://schemas.microsoft.com/office/2006/metadata/properties" ma:root="true" ma:fieldsID="0d25d76a7dc41c420c29e944cac47fad" ns2:_="" ns3:_="">
    <xsd:import namespace="3a86e97f-4373-4f71-89ac-a38beef8f59c"/>
    <xsd:import namespace="ec9eb7e8-78f2-4340-9490-acd44cfa20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86e97f-4373-4f71-89ac-a38beef8f5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fbe647-114e-4184-936e-069e4df0e1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4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eb7e8-78f2-4340-9490-acd44cfa20d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5ea6034-fc75-49e2-bcbf-482186bb3979}" ma:internalName="TaxCatchAll" ma:showField="CatchAllData" ma:web="ec9eb7e8-78f2-4340-9490-acd44cfa20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FAD9FC-411C-4434-9826-CA3CDB0F8E6A}">
  <ds:schemaRefs>
    <ds:schemaRef ds:uri="3a86e97f-4373-4f71-89ac-a38beef8f59c"/>
    <ds:schemaRef ds:uri="ec9eb7e8-78f2-4340-9490-acd44cfa20d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981EC60-6395-4C08-B95D-E2CC8799B9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1103A8-48F8-48AF-8DDE-3CFB55B9C129}">
  <ds:schemaRefs>
    <ds:schemaRef ds:uri="3a86e97f-4373-4f71-89ac-a38beef8f59c"/>
    <ds:schemaRef ds:uri="ec9eb7e8-78f2-4340-9490-acd44cfa20d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e3e0bd1-8a42-4fca-bd15-c152a08a9459}" enabled="1" method="Privileged" siteId="{d703bd9e-2913-4bf9-8dd7-49ce1b18bd1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Azim bin Abdul Talib</dc:creator>
  <cp:revision>1</cp:revision>
  <dcterms:created xsi:type="dcterms:W3CDTF">2026-06-18T06:58:56Z</dcterms:created>
  <dcterms:modified xsi:type="dcterms:W3CDTF">2026-06-24T02:36:23Z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0x01010012A2B9B71F720A4D97C30ECFAF68DAED</vt:lpwstr>
  </property>
  <property fmtid="{D5CDD505-2E9C-101B-9397-08002B2CF9AE}" pid="3" name="MediaServiceImageTags">
    <vt:lpwstr/>
  </property>
</Properties>
</file>